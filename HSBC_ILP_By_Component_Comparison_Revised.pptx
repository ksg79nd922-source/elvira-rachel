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Current</c:f>
              <c:strCache>
                <c:ptCount val="1"/>
                <c:pt idx="0">
                  <c:v>Current</c:v>
                </c:pt>
              </c:strCache>
            </c:strRef>
          </c:tx>
          <c:spPr>
            <a:ln w="28575" cap="rnd">
              <a:solidFill>
                <a:srgbClr val="326399"/>
              </a:solidFill>
              <a:prstDash val="solid"/>
              <a:round/>
            </a:ln>
          </c:spPr>
          <c:marker>
            <c:symbol val="circle"/>
            <c:size val="6"/>
            <c:spPr>
              <a:solidFill>
                <a:srgbClr val="326399"/>
              </a:solidFill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Data'!$A$2:$A$12</c:f>
              <c:strCache>
                <c:ptCount val="11"/>
                <c:pt idx="0">
                  <c:v>WL</c:v>
                </c:pt>
                <c:pt idx="1">
                  <c:v>NWL</c:v>
                </c:pt>
                <c:pt idx="2">
                  <c:v>30GA</c:v>
                </c:pt>
                <c:pt idx="3">
                  <c:v>40GA</c:v>
                </c:pt>
                <c:pt idx="4">
                  <c:v>RMB</c:v>
                </c:pt>
                <c:pt idx="5">
                  <c:v>EXQ</c:v>
                </c:pt>
                <c:pt idx="6">
                  <c:v>SPD</c:v>
                </c:pt>
                <c:pt idx="7">
                  <c:v>STE</c:v>
                </c:pt>
                <c:pt idx="8">
                  <c:v>60GA</c:v>
                </c:pt>
                <c:pt idx="9">
                  <c:v>60GB</c:v>
                </c:pt>
                <c:pt idx="10">
                  <c:v>FOO</c:v>
                </c:pt>
              </c:strCache>
            </c:strRef>
          </c:cat>
          <c:val>
            <c:numRef>
              <c:f>'Chart Data'!$B$2:$B$12</c:f>
              <c:numCache>
                <c:formatCode>General</c:formatCode>
                <c:ptCount val="11"/>
                <c:pt idx="0">
                  <c:v>65.5</c:v>
                </c:pt>
                <c:pt idx="1">
                  <c:v>68.8</c:v>
                </c:pt>
                <c:pt idx="2">
                  <c:v>64.6</c:v>
                </c:pt>
                <c:pt idx="3">
                  <c:v>56</c:v>
                </c:pt>
                <c:pt idx="4">
                  <c:v>42.2</c:v>
                </c:pt>
                <c:pt idx="5">
                  <c:v>72.5</c:v>
                </c:pt>
                <c:pt idx="6">
                  <c:v>64.4</c:v>
                </c:pt>
                <c:pt idx="7">
                  <c:v>57.2</c:v>
                </c:pt>
                <c:pt idx="8">
                  <c:v>57.2</c:v>
                </c:pt>
                <c:pt idx="9">
                  <c:v>67.7</c:v>
                </c:pt>
                <c:pt idx="10">
                  <c:v>71.8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Proposed</c:f>
              <c:strCache>
                <c:ptCount val="1"/>
                <c:pt idx="0">
                  <c:v>Proposed</c:v>
                </c:pt>
              </c:strCache>
            </c:strRef>
          </c:tx>
          <c:spPr>
            <a:ln w="28575" cap="rnd">
              <a:solidFill>
                <a:srgbClr val="B8101E"/>
              </a:solidFill>
              <a:prstDash val="solid"/>
              <a:round/>
            </a:ln>
          </c:spPr>
          <c:marker>
            <c:symbol val="square"/>
            <c:size val="6"/>
            <c:spPr>
              <a:solidFill>
                <a:srgbClr val="B8101E"/>
              </a:solidFill>
            </c:spPr>
          </c:marker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Data'!$C$2:$C$12</c:f>
              <c:strCache>
                <c:ptCount val="11"/>
                <c:pt idx="0">
                  <c:v>WL</c:v>
                </c:pt>
                <c:pt idx="1">
                  <c:v>NWL</c:v>
                </c:pt>
                <c:pt idx="2">
                  <c:v>30GA</c:v>
                </c:pt>
                <c:pt idx="3">
                  <c:v>40GA</c:v>
                </c:pt>
                <c:pt idx="4">
                  <c:v>RMB</c:v>
                </c:pt>
                <c:pt idx="5">
                  <c:v>EXQ</c:v>
                </c:pt>
                <c:pt idx="6">
                  <c:v>SPD</c:v>
                </c:pt>
                <c:pt idx="7">
                  <c:v>STE</c:v>
                </c:pt>
                <c:pt idx="8">
                  <c:v>60GA</c:v>
                </c:pt>
                <c:pt idx="9">
                  <c:v>60GB</c:v>
                </c:pt>
                <c:pt idx="10">
                  <c:v>FOO</c:v>
                </c:pt>
              </c:strCache>
            </c:strRef>
          </c:cat>
          <c:val>
            <c:numRef>
              <c:f>'Chart Data'!$D$2:$D$12</c:f>
              <c:numCache>
                <c:formatCode>General</c:formatCode>
                <c:ptCount val="11"/>
                <c:pt idx="0">
                  <c:v>65.8</c:v>
                </c:pt>
                <c:pt idx="1">
                  <c:v>68.7</c:v>
                </c:pt>
                <c:pt idx="2">
                  <c:v>64.4</c:v>
                </c:pt>
                <c:pt idx="3">
                  <c:v>55.9</c:v>
                </c:pt>
                <c:pt idx="4">
                  <c:v>42.1</c:v>
                </c:pt>
                <c:pt idx="5">
                  <c:v>72.4</c:v>
                </c:pt>
                <c:pt idx="6">
                  <c:v>64.4</c:v>
                </c:pt>
                <c:pt idx="7">
                  <c:v>57.2</c:v>
                </c:pt>
                <c:pt idx="8">
                  <c:v>56.5</c:v>
                </c:pt>
                <c:pt idx="9">
                  <c:v>67.3</c:v>
                </c:pt>
                <c:pt idx="10">
                  <c:v>71.7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500" b="0" i="0" u="none" strike="noStrike" kern="1200" baseline="0">
                <a:solidFill>
                  <a:srgbClr val="6666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w="9525">
              <a:solidFill>
                <a:srgbClr val="D8DCDF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en-US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>
                    <a:latin typeface="Helvetica Neue" panose="02000503000000020004"/>
                    <a:ea typeface="Helvetica Neue" panose="02000503000000020004"/>
                    <a:cs typeface="Helvetica Neue" panose="02000503000000020004"/>
                  </a:rPr>
                  <a:t>ILP (bps)</a:t>
                </a:r>
                <a:endParaRPr>
                  <a:latin typeface="Helvetica Neue" panose="02000503000000020004"/>
                  <a:ea typeface="Helvetica Neue" panose="02000503000000020004"/>
                  <a:cs typeface="Helvetica Neue" panose="02000503000000020004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6666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</a:p>
        </c:txPr>
        <c:crossAx val="48650112"/>
        <c:crosses val="autoZero"/>
        <c:crossBetween val="between"/>
        <c:majorUnit val="20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5cabfb04-97b3-4f0d-ae30-f0004d6c45fa}"/>
      </c:ext>
    </c:extLst>
  </c:chart>
  <c:spPr>
    <a:solidFill>
      <a:srgbClr val="FFFFFF"/>
    </a:solidFill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HSBC Life SG</c:f>
              <c:strCache>
                <c:ptCount val="1"/>
                <c:pt idx="0">
                  <c:v>HSBC Life SG</c:v>
                </c:pt>
              </c:strCache>
            </c:strRef>
          </c:tx>
          <c:spPr>
            <a:ln w="28575" cap="rnd">
              <a:solidFill>
                <a:srgbClr val="B8101E"/>
              </a:solidFill>
              <a:prstDash val="solid"/>
              <a:round/>
            </a:ln>
          </c:spPr>
          <c:marker>
            <c:symbol val="circle"/>
            <c:size val="7"/>
            <c:spPr>
              <a:solidFill>
                <a:srgbClr val="B8101E"/>
              </a:solidFill>
            </c:spPr>
          </c:marker>
          <c:dLbls>
            <c:delete val="1"/>
          </c:dLbls>
          <c:cat>
            <c:strRef>
              <c:f>'Chart Data'!$A$2:$A$6</c:f>
              <c:strCache>
                <c:ptCount val="5"/>
                <c:pt idx="0">
                  <c:v>1Y</c:v>
                </c:pt>
                <c:pt idx="1">
                  <c:v>5Y</c:v>
                </c:pt>
                <c:pt idx="2">
                  <c:v>10Y</c:v>
                </c:pt>
                <c:pt idx="3">
                  <c:v>15Y</c:v>
                </c:pt>
                <c:pt idx="4">
                  <c:v>20Y</c:v>
                </c:pt>
              </c:strCache>
            </c:str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1.72</c:v>
                </c:pt>
                <c:pt idx="1">
                  <c:v>2.2</c:v>
                </c:pt>
                <c:pt idx="2">
                  <c:v>2.46</c:v>
                </c:pt>
                <c:pt idx="3">
                  <c:v>2.54</c:v>
                </c:pt>
                <c:pt idx="4">
                  <c:v>2.73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AIA Group SGD</c:f>
              <c:strCache>
                <c:ptCount val="1"/>
                <c:pt idx="0">
                  <c:v>AIA Group SGD</c:v>
                </c:pt>
              </c:strCache>
            </c:strRef>
          </c:tx>
          <c:spPr>
            <a:ln w="28575" cap="rnd">
              <a:solidFill>
                <a:srgbClr val="326399"/>
              </a:solidFill>
              <a:prstDash val="solid"/>
              <a:round/>
            </a:ln>
          </c:spPr>
          <c:marker>
            <c:symbol val="square"/>
            <c:size val="6"/>
            <c:spPr>
              <a:solidFill>
                <a:srgbClr val="326399"/>
              </a:solidFill>
            </c:spPr>
          </c:marker>
          <c:dLbls>
            <c:delete val="1"/>
          </c:dLbls>
          <c:cat>
            <c:strRef>
              <c:f>'Chart Data'!$C$2:$C$6</c:f>
              <c:strCache>
                <c:ptCount val="5"/>
                <c:pt idx="0">
                  <c:v>1Y</c:v>
                </c:pt>
                <c:pt idx="1">
                  <c:v>5Y</c:v>
                </c:pt>
                <c:pt idx="2">
                  <c:v>10Y</c:v>
                </c:pt>
                <c:pt idx="3">
                  <c:v>15Y</c:v>
                </c:pt>
                <c:pt idx="4">
                  <c:v>20Y</c:v>
                </c:pt>
              </c:strCache>
            </c:strRef>
          </c:cat>
          <c:val>
            <c:numRef>
              <c:f>'Chart Data'!$D$2:$D$6</c:f>
              <c:numCache>
                <c:formatCode>0.0</c:formatCode>
                <c:ptCount val="5"/>
                <c:pt idx="0">
                  <c:v>2.13</c:v>
                </c:pt>
                <c:pt idx="1">
                  <c:v>2.79</c:v>
                </c:pt>
                <c:pt idx="2">
                  <c:v>2.82</c:v>
                </c:pt>
                <c:pt idx="3">
                  <c:v>2.86</c:v>
                </c:pt>
                <c:pt idx="4">
                  <c:v>2.88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GE lower</c:f>
              <c:strCache>
                <c:ptCount val="1"/>
                <c:pt idx="0">
                  <c:v>GE lower</c:v>
                </c:pt>
              </c:strCache>
            </c:strRef>
          </c:tx>
          <c:spPr>
            <a:ln w="19050" cap="rnd">
              <a:solidFill>
                <a:srgbClr val="008577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cat>
            <c:strRef>
              <c:f>'Chart Data'!$E$2:$E$6</c:f>
              <c:strCache>
                <c:ptCount val="5"/>
                <c:pt idx="0">
                  <c:v>1Y</c:v>
                </c:pt>
                <c:pt idx="1">
                  <c:v>5Y</c:v>
                </c:pt>
                <c:pt idx="2">
                  <c:v>10Y</c:v>
                </c:pt>
                <c:pt idx="3">
                  <c:v>15Y</c:v>
                </c:pt>
                <c:pt idx="4">
                  <c:v>20Y</c:v>
                </c:pt>
              </c:strCache>
            </c:strRef>
          </c:cat>
          <c:val>
            <c:numRef>
              <c:f>'Chart Data'!$F$2:$F$6</c:f>
              <c:numCache>
                <c:formatCode>0.0</c:formatCode>
                <c:ptCount val="5"/>
                <c:pt idx="0">
                  <c:v>1.41</c:v>
                </c:pt>
                <c:pt idx="1">
                  <c:v>1.89</c:v>
                </c:pt>
                <c:pt idx="2">
                  <c:v>2.16</c:v>
                </c:pt>
                <c:pt idx="3">
                  <c:v>2.23</c:v>
                </c:pt>
                <c:pt idx="4">
                  <c:v>2.2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GE upper</c:f>
              <c:strCache>
                <c:ptCount val="1"/>
                <c:pt idx="0">
                  <c:v>GE upper</c:v>
                </c:pt>
              </c:strCache>
            </c:strRef>
          </c:tx>
          <c:spPr>
            <a:ln w="19050" cap="rnd">
              <a:solidFill>
                <a:srgbClr val="008577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cat>
            <c:strRef>
              <c:f>'Chart Data'!$G$2:$G$6</c:f>
              <c:strCache>
                <c:ptCount val="5"/>
                <c:pt idx="0">
                  <c:v>1Y</c:v>
                </c:pt>
                <c:pt idx="1">
                  <c:v>5Y</c:v>
                </c:pt>
                <c:pt idx="2">
                  <c:v>10Y</c:v>
                </c:pt>
                <c:pt idx="3">
                  <c:v>15Y</c:v>
                </c:pt>
                <c:pt idx="4">
                  <c:v>20Y</c:v>
                </c:pt>
              </c:strCache>
            </c:strRef>
          </c:cat>
          <c:val>
            <c:numRef>
              <c:f>'Chart Data'!$H$2:$H$6</c:f>
              <c:numCache>
                <c:formatCode>0.0</c:formatCode>
                <c:ptCount val="5"/>
                <c:pt idx="0">
                  <c:v>1.87</c:v>
                </c:pt>
                <c:pt idx="1">
                  <c:v>2.36</c:v>
                </c:pt>
                <c:pt idx="2">
                  <c:v>2.44</c:v>
                </c:pt>
                <c:pt idx="3">
                  <c:v>2.79</c:v>
                </c:pt>
                <c:pt idx="4">
                  <c:v>3.04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en-US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>
                    <a:latin typeface="Helvetica Neue" panose="02000503000000020004"/>
                    <a:ea typeface="Helvetica Neue" panose="02000503000000020004"/>
                    <a:cs typeface="Helvetica Neue" panose="02000503000000020004"/>
                  </a:rPr>
                  <a:t>Tenor</a:t>
                </a:r>
                <a:endParaRPr>
                  <a:latin typeface="Helvetica Neue" panose="02000503000000020004"/>
                  <a:ea typeface="Helvetica Neue" panose="02000503000000020004"/>
                  <a:cs typeface="Helvetica Neue" panose="02000503000000020004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425" b="0" i="0" u="none" strike="noStrike" kern="1200" baseline="0">
                <a:solidFill>
                  <a:srgbClr val="6666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.5"/>
          <c:min val="0"/>
        </c:scaling>
        <c:delete val="0"/>
        <c:axPos val="l"/>
        <c:majorGridlines>
          <c:spPr>
            <a:ln w="9525">
              <a:solidFill>
                <a:srgbClr val="D8DCDF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en-US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>
                    <a:latin typeface="Helvetica Neue" panose="02000503000000020004"/>
                    <a:ea typeface="Helvetica Neue" panose="02000503000000020004"/>
                    <a:cs typeface="Helvetica Neue" panose="02000503000000020004"/>
                  </a:rPr>
                  <a:t>Total rate (%)</a:t>
                </a:r>
                <a:endParaRPr>
                  <a:latin typeface="Helvetica Neue" panose="02000503000000020004"/>
                  <a:ea typeface="Helvetica Neue" panose="02000503000000020004"/>
                  <a:cs typeface="Helvetica Neue" panose="02000503000000020004"/>
                </a:endParaRP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6666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</a:p>
        </c:txPr>
        <c:crossAx val="48650112"/>
        <c:crosses val="autoZero"/>
        <c:crossBetween val="between"/>
        <c:majorUnit val="0.5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275" b="0" i="0" u="none" strike="noStrike" kern="1200" baseline="0">
              <a:solidFill>
                <a:schemeClr val="tx1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3017ed07-1a1b-4619-9452-95ea3bb8aca2}"/>
      </c:ext>
    </c:extLst>
  </c:chart>
  <c:spPr>
    <a:solidFill>
      <a:srgbClr val="FFFFFF"/>
    </a:solidFill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中文讲稿（40秒）</a:t>
            </a:r>
          </a:p>
          <a:p/>
          <a:p>
            <a:r>
              <a:t>今天按 component 比较三地市场，并以汇丰为基线。先看折现率方法：汇丰香港相关实体和新加坡公开披露 bottom-up；同业中，AIA 主要采用 top-down，保诚和 Great Eastern 采用 bottom-up。加拿大也不是统一方法，Canada Life 按业务同时使用两种方法。所以比较不能只停留在方法名称，还要继续看 spread 如何形成，以及如何应用到负债。</a:t>
            </a:r>
          </a:p>
          <a:p/>
          <a:p>
            <a:r>
              <a:t>Scope: FY2025 public company evidence unless a different date is stated. Internal photos are study/proposal evidence, not confirmed approvals. INSP is a working mapping to HSBC Life (Singapore).</a:t>
            </a:r>
          </a:p>
          <a:p/>
          <a:p>
            <a:r>
              <a:t>Sources</a:t>
            </a:r>
          </a:p>
          <a:p/>
          <a:p>
            <a:r>
              <a:t>H1 HSBC Holdings Annual Report 2025</a:t>
            </a:r>
          </a:p>
          <a:p>
            <a:r>
              <a:t>Note 4, Insurance business: Discount rates; Risk adjustment. SEC HTML R21, tables at 31 Dec 2025.</a:t>
            </a:r>
          </a:p>
          <a:p>
            <a:r>
              <a:t>Scope: Group disclosure with named HSBC Life International and Hang Seng Insurance entity rates; group RA policy.</a:t>
            </a:r>
          </a:p>
          <a:p>
            <a:r>
              <a:t>https://www.sec.gov/Archives/edgar/data/1089113/000108911326000010/R21.htm</a:t>
            </a:r>
          </a:p>
          <a:p/>
          <a:p/>
          <a:p>
            <a:r>
              <a:t>H2 HSBC Life (Singapore) Pte. Ltd. Annual Report 2025</a:t>
            </a:r>
          </a:p>
          <a:p>
            <a:r>
              <a:t>Note 2.2 p.17; Note 3.1 pp.37–38; Note 4.2(e) pp.47–48. Printed and PDF pages coincide.</a:t>
            </a:r>
          </a:p>
          <a:p>
            <a:r>
              <a:t>Scope: Singapore legal entity. INSP is used as the working Singapore mapping, not verified from an internal entity-code register.</a:t>
            </a:r>
          </a:p>
          <a:p>
            <a:r>
              <a:t>https://www.insurance.hsbc.com.sg/content/dam/hsbc/insn/documents/general/annual-report-2025.pdf</a:t>
            </a:r>
          </a:p>
          <a:p>
            <a:r>
              <a:t>/Users/elvirazhong/Documents/ChatGPT/Elvira/tmp/market-audit/HSBC_Singapore_2025.pdf</a:t>
            </a:r>
          </a:p>
          <a:p/>
          <a:p>
            <a:r>
              <a:t>A1 AIA FY2025 Annual Results Announcement</a:t>
            </a:r>
          </a:p>
          <a:p>
            <a:r>
              <a:t>Note 24, printed pp.173–174 / PDF179–180. Note 34, printed p.185 / PDF191.</a:t>
            </a:r>
          </a:p>
          <a:p>
            <a:r>
              <a:t>Scope: Group currency curves and Group sensitivity</a:t>
            </a:r>
          </a:p>
          <a:p>
            <a:r>
              <a:t>https://aia.gcs-web.com/static-files/c24c2dc8-6d63-4e48-960b-ad6d7a218b75</a:t>
            </a:r>
          </a:p>
          <a:p>
            <a:r>
              <a:t>/Users/elvirazhong/Desktop/AIA_2025 Annual Results Ann.pdf</a:t>
            </a:r>
          </a:p>
          <a:p/>
          <a:p>
            <a:r>
              <a:t>A2 Great Eastern Holdings Annual Report 2025</a:t>
            </a:r>
          </a:p>
          <a:p>
            <a:r>
              <a:t>Note 2.26, printed pp.138–139 / PDF140–141. Note 30(B1), printed p.186 / PDF188.</a:t>
            </a:r>
          </a:p>
          <a:p>
            <a:r>
              <a:t>Scope: Group policy and Singapore-segment sensitivity</a:t>
            </a:r>
          </a:p>
          <a:p>
            <a:r>
              <a:t>https://www.greateasternlife.com/content/dam/corp-site/group/gels-au-corpcomms/english-website/annual-report/great-eastern-holdings-limited-ar-2025.pdf</a:t>
            </a:r>
          </a:p>
          <a:p>
            <a:r>
              <a:t>/Users/elvirazhong/Desktop/great-eastern-holdings-limited-ar-2025.pdf</a:t>
            </a:r>
          </a:p>
          <a:p/>
          <a:p>
            <a:r>
              <a:t>A3 Manulife FY2025 report</a:t>
            </a:r>
          </a:p>
          <a:p>
            <a:r>
              <a:t>Printed pp.216–219 / PDF218–221. Discount curves and RA at p.218 / PDF220.</a:t>
            </a:r>
          </a:p>
          <a:p>
            <a:r>
              <a:t>Scope: Group disclosures with currency/liquidity categories</a:t>
            </a:r>
          </a:p>
          <a:p>
            <a:r>
              <a:t>https://www.manulife.com/content/dam/manulife-com/ca/financial-documents/investors/MFC_SR_2025_Y1_EN.pdf</a:t>
            </a:r>
          </a:p>
          <a:p>
            <a:r>
              <a:t>/Users/elvirazhong/Desktop/Manulife_MFC_SR_2025_Y1_EN.pdf</a:t>
            </a:r>
          </a:p>
          <a:p/>
          <a:p>
            <a:r>
              <a:t>A4 Sun Life FY2025 Form 40-F</a:t>
            </a:r>
          </a:p>
          <a:p>
            <a:r>
              <a:t>Financial statements printed pp.69–70 / PDF194–195.</a:t>
            </a:r>
          </a:p>
          <a:p>
            <a:r>
              <a:t>Scope: Group assumptions and CAD weighted curve</a:t>
            </a:r>
          </a:p>
          <a:p>
            <a:r>
              <a:t>https://www.sunlife.com/content/dam/sunlife/regional/global-marketing/documents/com/2025-slf-form-40-f.pdf</a:t>
            </a:r>
          </a:p>
          <a:p>
            <a:r>
              <a:t>/Users/elvirazhong/Desktop/Sunlife_2025-slf-form-40-f.pdf</a:t>
            </a:r>
          </a:p>
          <a:p/>
          <a:p>
            <a:r>
              <a:t>W1 PwC Singapore IFRS17 initial disclosure analysis</a:t>
            </a:r>
          </a:p>
          <a:p>
            <a:r>
              <a:t>November 2024 analysis of FY2023. RA p.10, discount rates p.11, lapse sensitivity p.12.</a:t>
            </a:r>
          </a:p>
          <a:p>
            <a:r>
              <a:t>Scope: Historical eight-insurer sample</a:t>
            </a:r>
          </a:p>
          <a:p>
            <a:r>
              <a:t>https://www.pwc.com/sg/en/publications/assets/page/ifrs-17-implementation-for-direct-insurers.pdf</a:t>
            </a:r>
          </a:p>
          <a:p/>
          <a:p/>
          <a:p>
            <a:r>
              <a:t>W2 Canada Life Annual Report 2025</a:t>
            </a:r>
          </a:p>
          <a:p>
            <a:r>
              <a:t>Printed pp.13, 23–24 / PDF15, 25–26.</a:t>
            </a:r>
          </a:p>
          <a:p>
            <a:r>
              <a:t>Scope: Company methods and Lifeco RA target</a:t>
            </a:r>
          </a:p>
          <a:p>
            <a:r>
              <a:t>https://www.canadalife.com/content/dam/canadalife/documents/corporate/annual-reports/canada-life-2025-annual-report.pdf</a:t>
            </a:r>
          </a:p>
          <a:p/>
          <a:p/>
          <a:p>
            <a:r>
              <a:t>W3 Prudential plc FY2025 SEC filing</a:t>
            </a:r>
          </a:p>
          <a:p>
            <a:r>
              <a:t>Note A3, Discount rates and Risk adjustment. HTML, no PDF page.</a:t>
            </a:r>
          </a:p>
          <a:p>
            <a:r>
              <a:t>Scope: Group disclosure, not verified PHKL local entity</a:t>
            </a:r>
          </a:p>
          <a:p>
            <a:r>
              <a:t>https://www.sec.gov/Archives/edgar/data/1116578/000162828026021178/R10.htm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中文讲稿（65秒）</a:t>
            </a:r>
          </a:p>
          <a:p/>
          <a:p>
            <a:r>
              <a:t>核心是这一页 ILP approach。香港保诚从参考资产收益率扣除无风险及信用部分，再按零、百分之五十或百分之百应用到不同负债；新加坡 Great Eastern 根据产品特征评分，分配流动性类别和应用比例。加拿大 Sun Life 明确扣除信用损失，CIA 又提供不同流动性类别的参考曲线。对汇丰，HSIC 截图已给出不同业务标签的最终 ILP；但公开披露的新加坡百分之二点四六是总折现率，不能直接拿来与 HSIC 的基点数比较。我们要对照的是从资产 spread 到负债 ILP 的整条计算过程。</a:t>
            </a:r>
          </a:p>
          <a:p/>
          <a:p>
            <a:r>
              <a:t>Scope: FY2025 public company evidence unless a different date is stated. Internal photos are study/proposal evidence, not confirmed approvals. INSP is a working mapping to HSBC Life (Singapore).</a:t>
            </a:r>
          </a:p>
          <a:p/>
          <a:p>
            <a:r>
              <a:t>Sources</a:t>
            </a:r>
          </a:p>
          <a:p/>
          <a:p>
            <a:r>
              <a:t>W3 Prudential plc FY2025 SEC filing</a:t>
            </a:r>
          </a:p>
          <a:p>
            <a:r>
              <a:t>Note A3, Discount rates and Risk adjustment. HTML, no PDF page.</a:t>
            </a:r>
          </a:p>
          <a:p>
            <a:r>
              <a:t>Scope: Group disclosure, not verified PHKL local entity</a:t>
            </a:r>
          </a:p>
          <a:p>
            <a:r>
              <a:t>https://www.sec.gov/Archives/edgar/data/1116578/000162828026021178/R10.htm</a:t>
            </a:r>
          </a:p>
          <a:p/>
          <a:p/>
          <a:p>
            <a:r>
              <a:t>A1 AIA FY2025 Annual Results Announcement</a:t>
            </a:r>
          </a:p>
          <a:p>
            <a:r>
              <a:t>Note 24, printed pp.173–174 / PDF179–180. Note 34, printed p.185 / PDF191.</a:t>
            </a:r>
          </a:p>
          <a:p>
            <a:r>
              <a:t>Scope: Group currency curves and Group sensitivity</a:t>
            </a:r>
          </a:p>
          <a:p>
            <a:r>
              <a:t>https://aia.gcs-web.com/static-files/c24c2dc8-6d63-4e48-960b-ad6d7a218b75</a:t>
            </a:r>
          </a:p>
          <a:p>
            <a:r>
              <a:t>/Users/elvirazhong/Desktop/AIA_2025 Annual Results Ann.pdf</a:t>
            </a:r>
          </a:p>
          <a:p/>
          <a:p>
            <a:r>
              <a:t>A2 Great Eastern Holdings Annual Report 2025</a:t>
            </a:r>
          </a:p>
          <a:p>
            <a:r>
              <a:t>Note 2.26, printed pp.138–139 / PDF140–141. Note 30(B1), printed p.186 / PDF188.</a:t>
            </a:r>
          </a:p>
          <a:p>
            <a:r>
              <a:t>Scope: Group policy and Singapore-segment sensitivity</a:t>
            </a:r>
          </a:p>
          <a:p>
            <a:r>
              <a:t>https://www.greateasternlife.com/content/dam/corp-site/group/gels-au-corpcomms/english-website/annual-report/great-eastern-holdings-limited-ar-2025.pdf</a:t>
            </a:r>
          </a:p>
          <a:p>
            <a:r>
              <a:t>/Users/elvirazhong/Desktop/great-eastern-holdings-limited-ar-2025.pdf</a:t>
            </a:r>
          </a:p>
          <a:p/>
          <a:p>
            <a:r>
              <a:t>A3 Manulife FY2025 report</a:t>
            </a:r>
          </a:p>
          <a:p>
            <a:r>
              <a:t>Printed pp.216–219 / PDF218–221. Discount curves and RA at p.218 / PDF220.</a:t>
            </a:r>
          </a:p>
          <a:p>
            <a:r>
              <a:t>Scope: Group disclosures with currency/liquidity categories</a:t>
            </a:r>
          </a:p>
          <a:p>
            <a:r>
              <a:t>https://www.manulife.com/content/dam/manulife-com/ca/financial-documents/investors/MFC_SR_2025_Y1_EN.pdf</a:t>
            </a:r>
          </a:p>
          <a:p>
            <a:r>
              <a:t>/Users/elvirazhong/Desktop/Manulife_MFC_SR_2025_Y1_EN.pdf</a:t>
            </a:r>
          </a:p>
          <a:p/>
          <a:p>
            <a:r>
              <a:t>A4 Sun Life FY2025 Form 40-F</a:t>
            </a:r>
          </a:p>
          <a:p>
            <a:r>
              <a:t>Financial statements printed pp.69–70 / PDF194–195.</a:t>
            </a:r>
          </a:p>
          <a:p>
            <a:r>
              <a:t>Scope: Group assumptions and CAD weighted curve</a:t>
            </a:r>
          </a:p>
          <a:p>
            <a:r>
              <a:t>https://www.sunlife.com/content/dam/sunlife/regional/global-marketing/documents/com/2025-slf-form-40-f.pdf</a:t>
            </a:r>
          </a:p>
          <a:p>
            <a:r>
              <a:t>/Users/elvirazhong/Desktop/Sunlife_2025-slf-form-40-f.pdf</a:t>
            </a:r>
          </a:p>
          <a:p/>
          <a:p>
            <a:r>
              <a:t>A5 CIA educational note 225094e</a:t>
            </a:r>
          </a:p>
          <a:p>
            <a:r>
              <a:t>26 August 2025. pp.5–6, 26, 35–40. Parameters on p.36 effective 15 October 2025.</a:t>
            </a:r>
          </a:p>
          <a:p>
            <a:r>
              <a:t>Scope: Dated professional reference methodology</a:t>
            </a:r>
          </a:p>
          <a:p>
            <a:r>
              <a:t>https://www.cia-ica.ca/publications/225094e/</a:t>
            </a:r>
          </a:p>
          <a:p>
            <a:r>
              <a:t>/Users/elvirazhong/Desktop/CIA_225094e.pdf</a:t>
            </a:r>
          </a:p>
          <a:p/>
          <a:p>
            <a:r>
              <a:t>W2 Canada Life Annual Report 2025</a:t>
            </a:r>
          </a:p>
          <a:p>
            <a:r>
              <a:t>Printed pp.13, 23–24 / PDF15, 25–26.</a:t>
            </a:r>
          </a:p>
          <a:p>
            <a:r>
              <a:t>Scope: Company methods and Lifeco RA target</a:t>
            </a:r>
          </a:p>
          <a:p>
            <a:r>
              <a:t>https://www.canadalife.com/content/dam/canadalife/documents/corporate/annual-reports/canada-life-2025-annual-report.pdf</a:t>
            </a:r>
          </a:p>
          <a:p/>
          <a:p/>
          <a:p>
            <a:r>
              <a:t>H2 HSBC Life (Singapore) Pte. Ltd. Annual Report 2025</a:t>
            </a:r>
          </a:p>
          <a:p>
            <a:r>
              <a:t>Note 2.2 p.17; Note 3.1 pp.37–38; Note 4.2(e) pp.47–48. Printed and PDF pages coincide.</a:t>
            </a:r>
          </a:p>
          <a:p>
            <a:r>
              <a:t>Scope: Singapore legal entity. INSP is used as the working Singapore mapping, not verified from an internal entity-code register.</a:t>
            </a:r>
          </a:p>
          <a:p>
            <a:r>
              <a:t>https://www.insurance.hsbc.com.sg/content/dam/hsbc/insn/documents/general/annual-report-2025.pdf</a:t>
            </a:r>
          </a:p>
          <a:p>
            <a:r>
              <a:t>/Users/elvirazhong/Documents/ChatGPT/Elvira/tmp/market-audit/HSBC_Singapore_2025.pdf</a:t>
            </a:r>
          </a:p>
          <a:p/>
          <a:p>
            <a:r>
              <a:t>I1 HSIC internal ARF photographs</a:t>
            </a:r>
          </a:p>
          <a:p>
            <a:r>
              <a:t>Credit Spread Analysis p.43; ILP p.61</a:t>
            </a:r>
          </a:p>
          <a:p>
            <a:r>
              <a:t>Scope: User-supplied internal study evidence. Does not establish final approval or a complete current policy.</a:t>
            </a:r>
          </a:p>
          <a:p>
            <a:r>
              <a:t>User supplied internal evidence</a:t>
            </a:r>
          </a:p>
          <a:p>
            <a:r>
              <a:t>/Users/elvirazhong/Downloads/IMG_5177.PNG ; /Users/elvirazhong/Downloads/IMG_5176.PNG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中文讲稿（45秒）</a:t>
            </a:r>
          </a:p>
          <a:p/>
          <a:p>
            <a:r>
              <a:t>信用部分需要特别防止混用。保诚披露年末信用扣除范围六到三十二个基点；Sun Life 明确包括预期和非预期信用损失。我们内部 HSIC 的八十五比十五评级组合，以及 swap 基准加十个基点，是具体的组合和基准处理，不能直接解释成与保诚同口径的 credit deduction。INHK 的数字又是再投资假设。因此外部数据适合用来核对处理步骤，不能直接替换内部参数。</a:t>
            </a:r>
          </a:p>
          <a:p/>
          <a:p>
            <a:r>
              <a:t>Scope: FY2025 public company evidence unless a different date is stated. Internal photos are study/proposal evidence, not confirmed approvals. INSP is a working mapping to HSBC Life (Singapore).</a:t>
            </a:r>
          </a:p>
          <a:p/>
          <a:p>
            <a:r>
              <a:t>Sources</a:t>
            </a:r>
          </a:p>
          <a:p/>
          <a:p>
            <a:r>
              <a:t>A1 AIA FY2025 Annual Results Announcement</a:t>
            </a:r>
          </a:p>
          <a:p>
            <a:r>
              <a:t>Note 24, printed pp.173–174 / PDF179–180. Note 34, printed p.185 / PDF191.</a:t>
            </a:r>
          </a:p>
          <a:p>
            <a:r>
              <a:t>Scope: Group currency curves and Group sensitivity</a:t>
            </a:r>
          </a:p>
          <a:p>
            <a:r>
              <a:t>https://aia.gcs-web.com/static-files/c24c2dc8-6d63-4e48-960b-ad6d7a218b75</a:t>
            </a:r>
          </a:p>
          <a:p>
            <a:r>
              <a:t>/Users/elvirazhong/Desktop/AIA_2025 Annual Results Ann.pdf</a:t>
            </a:r>
          </a:p>
          <a:p/>
          <a:p>
            <a:r>
              <a:t>W3 Prudential plc FY2025 SEC filing</a:t>
            </a:r>
          </a:p>
          <a:p>
            <a:r>
              <a:t>Note A3, Discount rates and Risk adjustment. HTML, no PDF page.</a:t>
            </a:r>
          </a:p>
          <a:p>
            <a:r>
              <a:t>Scope: Group disclosure, not verified PHKL local entity</a:t>
            </a:r>
          </a:p>
          <a:p>
            <a:r>
              <a:t>https://www.sec.gov/Archives/edgar/data/1116578/000162828026021178/R10.htm</a:t>
            </a:r>
          </a:p>
          <a:p/>
          <a:p/>
          <a:p>
            <a:r>
              <a:t>A2 Great Eastern Holdings Annual Report 2025</a:t>
            </a:r>
          </a:p>
          <a:p>
            <a:r>
              <a:t>Note 2.26, printed pp.138–139 / PDF140–141. Note 30(B1), printed p.186 / PDF188.</a:t>
            </a:r>
          </a:p>
          <a:p>
            <a:r>
              <a:t>Scope: Group policy and Singapore-segment sensitivity</a:t>
            </a:r>
          </a:p>
          <a:p>
            <a:r>
              <a:t>https://www.greateasternlife.com/content/dam/corp-site/group/gels-au-corpcomms/english-website/annual-report/great-eastern-holdings-limited-ar-2025.pdf</a:t>
            </a:r>
          </a:p>
          <a:p>
            <a:r>
              <a:t>/Users/elvirazhong/Desktop/great-eastern-holdings-limited-ar-2025.pdf</a:t>
            </a:r>
          </a:p>
          <a:p/>
          <a:p>
            <a:r>
              <a:t>A4 Sun Life FY2025 Form 40-F</a:t>
            </a:r>
          </a:p>
          <a:p>
            <a:r>
              <a:t>Financial statements printed pp.69–70 / PDF194–195.</a:t>
            </a:r>
          </a:p>
          <a:p>
            <a:r>
              <a:t>Scope: Group assumptions and CAD weighted curve</a:t>
            </a:r>
          </a:p>
          <a:p>
            <a:r>
              <a:t>https://www.sunlife.com/content/dam/sunlife/regional/global-marketing/documents/com/2025-slf-form-40-f.pdf</a:t>
            </a:r>
          </a:p>
          <a:p>
            <a:r>
              <a:t>/Users/elvirazhong/Desktop/Sunlife_2025-slf-form-40-f.pdf</a:t>
            </a:r>
          </a:p>
          <a:p/>
          <a:p>
            <a:r>
              <a:t>W2 Canada Life Annual Report 2025</a:t>
            </a:r>
          </a:p>
          <a:p>
            <a:r>
              <a:t>Printed pp.13, 23–24 / PDF15, 25–26.</a:t>
            </a:r>
          </a:p>
          <a:p>
            <a:r>
              <a:t>Scope: Company methods and Lifeco RA target</a:t>
            </a:r>
          </a:p>
          <a:p>
            <a:r>
              <a:t>https://www.canadalife.com/content/dam/canadalife/documents/corporate/annual-reports/canada-life-2025-annual-report.pdf</a:t>
            </a:r>
          </a:p>
          <a:p/>
          <a:p/>
          <a:p>
            <a:r>
              <a:t>I1 HSIC internal ARF photographs</a:t>
            </a:r>
          </a:p>
          <a:p>
            <a:r>
              <a:t>Credit Spread Analysis p.43; ILP p.61</a:t>
            </a:r>
          </a:p>
          <a:p>
            <a:r>
              <a:t>Scope: User-supplied internal study evidence. Does not establish final approval or a complete current policy.</a:t>
            </a:r>
          </a:p>
          <a:p>
            <a:r>
              <a:t>User supplied internal evidence</a:t>
            </a:r>
          </a:p>
          <a:p>
            <a:r>
              <a:t>/Users/elvirazhong/Downloads/IMG_5177.PNG ; /Users/elvirazhong/Downloads/IMG_5176.PNG</a:t>
            </a:r>
          </a:p>
          <a:p/>
          <a:p>
            <a:r>
              <a:t>I2 INHK internal ARF photographs</a:t>
            </a:r>
          </a:p>
          <a:p>
            <a:r>
              <a:t>Reinvestment Credit Spread pp.46–51</a:t>
            </a:r>
          </a:p>
          <a:p>
            <a:r>
              <a:t>Scope: User-supplied internal study evidence. Does not establish final approval or a complete current policy.</a:t>
            </a:r>
          </a:p>
          <a:p>
            <a:r>
              <a:t>User supplied internal evidence</a:t>
            </a:r>
          </a:p>
          <a:p>
            <a:r>
              <a:t>/Users/elvirazhong/Downloads/IMG_5182.PNG ; /Users/elvirazhong/Downloads/IMG_5184.PNG ; /Users/elvirazhong/Downloads/IMG_5185.PNG ; /Users/elvirazhong/Downloads/IMG_5186.PNG ; /Users/elvirazhong/Downloads/IMG_5187.PNG ; /Users/elvirazhong/Downloads/IMG_5188.PNG</a:t>
            </a:r>
          </a:p>
          <a:p/>
          <a:p>
            <a:r>
              <a:t>H2 HSBC Life (Singapore) Pte. Ltd. Annual Report 2025</a:t>
            </a:r>
          </a:p>
          <a:p>
            <a:r>
              <a:t>Note 2.2 p.17; Note 3.1 pp.37–38; Note 4.2(e) pp.47–48. Printed and PDF pages coincide.</a:t>
            </a:r>
          </a:p>
          <a:p>
            <a:r>
              <a:t>Scope: Singapore legal entity. INSP is used as the working Singapore mapping, not verified from an internal entity-code register.</a:t>
            </a:r>
          </a:p>
          <a:p>
            <a:r>
              <a:t>https://www.insurance.hsbc.com.sg/content/dam/hsbc/insn/documents/general/annual-report-2025.pdf</a:t>
            </a:r>
          </a:p>
          <a:p>
            <a:r>
              <a:t>/Users/elvirazhong/Documents/ChatGPT/Elvira/tmp/market-audit/HSBC_Singapore_2025.pdf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中文讲稿（45秒）</a:t>
            </a:r>
          </a:p>
          <a:p/>
          <a:p>
            <a:r>
              <a:t>校准频率是内部与市场比较最有价值的一项。Great Eastern 二零二五年披露每月末计算可观察 ILP；INHK 则综合历史、当前市场和前瞻判断，审视三、五、十年数据。INSH 明确用三年平均并年度 true-up：六月末即期十八、十年 P10 二十一、三年平均二十三个基点。三种统计量各有作用，截图并没有证明 P10 已成为强制 floor，也没有证明四个汇丰实体必须使用同一个窗口。</a:t>
            </a:r>
          </a:p>
          <a:p/>
          <a:p>
            <a:r>
              <a:t>Scope: FY2025 public company evidence unless a different date is stated. Internal photos are study/proposal evidence, not confirmed approvals. INSP is a working mapping to HSBC Life (Singapore).</a:t>
            </a:r>
          </a:p>
          <a:p/>
          <a:p>
            <a:r>
              <a:t>Sources</a:t>
            </a:r>
          </a:p>
          <a:p/>
          <a:p>
            <a:r>
              <a:t>W3 Prudential plc FY2025 SEC filing</a:t>
            </a:r>
          </a:p>
          <a:p>
            <a:r>
              <a:t>Note A3, Discount rates and Risk adjustment. HTML, no PDF page.</a:t>
            </a:r>
          </a:p>
          <a:p>
            <a:r>
              <a:t>Scope: Group disclosure, not verified PHKL local entity</a:t>
            </a:r>
          </a:p>
          <a:p>
            <a:r>
              <a:t>https://www.sec.gov/Archives/edgar/data/1116578/000162828026021178/R10.htm</a:t>
            </a:r>
          </a:p>
          <a:p/>
          <a:p/>
          <a:p>
            <a:r>
              <a:t>A1 AIA FY2025 Annual Results Announcement</a:t>
            </a:r>
          </a:p>
          <a:p>
            <a:r>
              <a:t>Note 24, printed pp.173–174 / PDF179–180. Note 34, printed p.185 / PDF191.</a:t>
            </a:r>
          </a:p>
          <a:p>
            <a:r>
              <a:t>Scope: Group currency curves and Group sensitivity</a:t>
            </a:r>
          </a:p>
          <a:p>
            <a:r>
              <a:t>https://aia.gcs-web.com/static-files/c24c2dc8-6d63-4e48-960b-ad6d7a218b75</a:t>
            </a:r>
          </a:p>
          <a:p>
            <a:r>
              <a:t>/Users/elvirazhong/Desktop/AIA_2025 Annual Results Ann.pdf</a:t>
            </a:r>
          </a:p>
          <a:p/>
          <a:p>
            <a:r>
              <a:t>A2 Great Eastern Holdings Annual Report 2025</a:t>
            </a:r>
          </a:p>
          <a:p>
            <a:r>
              <a:t>Note 2.26, printed pp.138–139 / PDF140–141. Note 30(B1), printed p.186 / PDF188.</a:t>
            </a:r>
          </a:p>
          <a:p>
            <a:r>
              <a:t>Scope: Group policy and Singapore-segment sensitivity</a:t>
            </a:r>
          </a:p>
          <a:p>
            <a:r>
              <a:t>https://www.greateasternlife.com/content/dam/corp-site/group/gels-au-corpcomms/english-website/annual-report/great-eastern-holdings-limited-ar-2025.pdf</a:t>
            </a:r>
          </a:p>
          <a:p>
            <a:r>
              <a:t>/Users/elvirazhong/Desktop/great-eastern-holdings-limited-ar-2025.pdf</a:t>
            </a:r>
          </a:p>
          <a:p/>
          <a:p>
            <a:r>
              <a:t>A5 CIA educational note 225094e</a:t>
            </a:r>
          </a:p>
          <a:p>
            <a:r>
              <a:t>26 August 2025. pp.5–6, 26, 35–40. Parameters on p.36 effective 15 October 2025.</a:t>
            </a:r>
          </a:p>
          <a:p>
            <a:r>
              <a:t>Scope: Dated professional reference methodology</a:t>
            </a:r>
          </a:p>
          <a:p>
            <a:r>
              <a:t>https://www.cia-ica.ca/publications/225094e/</a:t>
            </a:r>
          </a:p>
          <a:p>
            <a:r>
              <a:t>/Users/elvirazhong/Desktop/CIA_225094e.pdf</a:t>
            </a:r>
          </a:p>
          <a:p/>
          <a:p>
            <a:r>
              <a:t>I1 HSIC internal ARF photographs</a:t>
            </a:r>
          </a:p>
          <a:p>
            <a:r>
              <a:t>Credit Spread Analysis p.43; ILP p.61</a:t>
            </a:r>
          </a:p>
          <a:p>
            <a:r>
              <a:t>Scope: User-supplied internal study evidence. Does not establish final approval or a complete current policy.</a:t>
            </a:r>
          </a:p>
          <a:p>
            <a:r>
              <a:t>User supplied internal evidence</a:t>
            </a:r>
          </a:p>
          <a:p>
            <a:r>
              <a:t>/Users/elvirazhong/Downloads/IMG_5177.PNG ; /Users/elvirazhong/Downloads/IMG_5176.PNG</a:t>
            </a:r>
          </a:p>
          <a:p/>
          <a:p>
            <a:r>
              <a:t>I2 INHK internal ARF photographs</a:t>
            </a:r>
          </a:p>
          <a:p>
            <a:r>
              <a:t>Reinvestment Credit Spread pp.46–51</a:t>
            </a:r>
          </a:p>
          <a:p>
            <a:r>
              <a:t>Scope: User-supplied internal study evidence. Does not establish final approval or a complete current policy.</a:t>
            </a:r>
          </a:p>
          <a:p>
            <a:r>
              <a:t>User supplied internal evidence</a:t>
            </a:r>
          </a:p>
          <a:p>
            <a:r>
              <a:t>/Users/elvirazhong/Downloads/IMG_5182.PNG ; /Users/elvirazhong/Downloads/IMG_5184.PNG ; /Users/elvirazhong/Downloads/IMG_5185.PNG ; /Users/elvirazhong/Downloads/IMG_5186.PNG ; /Users/elvirazhong/Downloads/IMG_5187.PNG ; /Users/elvirazhong/Downloads/IMG_5188.PNG</a:t>
            </a:r>
          </a:p>
          <a:p/>
          <a:p>
            <a:r>
              <a:t>I3 INSH internal true-up photograph</a:t>
            </a:r>
          </a:p>
          <a:p>
            <a:r>
              <a:t>IFRS17 New Money Spread True Up p.66, 30 June 2026</a:t>
            </a:r>
          </a:p>
          <a:p>
            <a:r>
              <a:t>Scope: User-supplied internal study evidence. Does not establish final approval or a complete current policy.</a:t>
            </a:r>
          </a:p>
          <a:p>
            <a:r>
              <a:t>User supplied internal evidence</a:t>
            </a:r>
          </a:p>
          <a:p>
            <a:r>
              <a:t>/Users/elvirazhong/Downloads/IMG_5175.PNG</a:t>
            </a:r>
          </a:p>
          <a:p/>
          <a:p>
            <a:r>
              <a:t>H2 HSBC Life (Singapore) Pte. Ltd. Annual Report 2025</a:t>
            </a:r>
          </a:p>
          <a:p>
            <a:r>
              <a:t>Note 2.2 p.17; Note 3.1 pp.37–38; Note 4.2(e) pp.47–48. Printed and PDF pages coincide.</a:t>
            </a:r>
          </a:p>
          <a:p>
            <a:r>
              <a:t>Scope: Singapore legal entity. INSP is used as the working Singapore mapping, not verified from an internal entity-code register.</a:t>
            </a:r>
          </a:p>
          <a:p>
            <a:r>
              <a:t>https://www.insurance.hsbc.com.sg/content/dam/hsbc/insn/documents/general/annual-report-2025.pdf</a:t>
            </a:r>
          </a:p>
          <a:p>
            <a:r>
              <a:t>/Users/elvirazhong/Documents/ChatGPT/Elvira/tmp/market-audit/HSBC_Singapore_2025.pdf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中文讲稿（30秒）</a:t>
            </a:r>
          </a:p>
          <a:p/>
          <a:p>
            <a:r>
              <a:t>Lapse 需要区分实际假设与敏感性。加拿大 Sun Life 通常用五年自身经验；Great Eastern 按产品和保单年度校准。汇丰新加坡有直接数据：分红业务 lapse 增加百分之十，净再保险后的 CSM 减少约四千二百五十二万新元。但这个百分之十是 shock，不是实际退保率，更不能直接当作 ILP 的流动性系数。</a:t>
            </a:r>
          </a:p>
          <a:p/>
          <a:p>
            <a:r>
              <a:t>Scope: FY2025 public company evidence unless a different date is stated. Internal photos are study/proposal evidence, not confirmed approvals. INSP is a working mapping to HSBC Life (Singapore).</a:t>
            </a:r>
          </a:p>
          <a:p/>
          <a:p>
            <a:r>
              <a:t>Sources</a:t>
            </a:r>
          </a:p>
          <a:p/>
          <a:p>
            <a:r>
              <a:t>W3 Prudential plc FY2025 SEC filing</a:t>
            </a:r>
          </a:p>
          <a:p>
            <a:r>
              <a:t>Note A3, Discount rates and Risk adjustment. HTML, no PDF page.</a:t>
            </a:r>
          </a:p>
          <a:p>
            <a:r>
              <a:t>Scope: Group disclosure, not verified PHKL local entity</a:t>
            </a:r>
          </a:p>
          <a:p>
            <a:r>
              <a:t>https://www.sec.gov/Archives/edgar/data/1116578/000162828026021178/R10.htm</a:t>
            </a:r>
          </a:p>
          <a:p/>
          <a:p/>
          <a:p>
            <a:r>
              <a:t>A1 AIA FY2025 Annual Results Announcement</a:t>
            </a:r>
          </a:p>
          <a:p>
            <a:r>
              <a:t>Note 24, printed pp.173–174 / PDF179–180. Note 34, printed p.185 / PDF191.</a:t>
            </a:r>
          </a:p>
          <a:p>
            <a:r>
              <a:t>Scope: Group currency curves and Group sensitivity</a:t>
            </a:r>
          </a:p>
          <a:p>
            <a:r>
              <a:t>https://aia.gcs-web.com/static-files/c24c2dc8-6d63-4e48-960b-ad6d7a218b75</a:t>
            </a:r>
          </a:p>
          <a:p>
            <a:r>
              <a:t>/Users/elvirazhong/Desktop/AIA_2025 Annual Results Ann.pdf</a:t>
            </a:r>
          </a:p>
          <a:p/>
          <a:p>
            <a:r>
              <a:t>A2 Great Eastern Holdings Annual Report 2025</a:t>
            </a:r>
          </a:p>
          <a:p>
            <a:r>
              <a:t>Note 2.26, printed pp.138–139 / PDF140–141. Note 30(B1), printed p.186 / PDF188.</a:t>
            </a:r>
          </a:p>
          <a:p>
            <a:r>
              <a:t>Scope: Group policy and Singapore-segment sensitivity</a:t>
            </a:r>
          </a:p>
          <a:p>
            <a:r>
              <a:t>https://www.greateasternlife.com/content/dam/corp-site/group/gels-au-corpcomms/english-website/annual-report/great-eastern-holdings-limited-ar-2025.pdf</a:t>
            </a:r>
          </a:p>
          <a:p>
            <a:r>
              <a:t>/Users/elvirazhong/Desktop/great-eastern-holdings-limited-ar-2025.pdf</a:t>
            </a:r>
          </a:p>
          <a:p/>
          <a:p>
            <a:r>
              <a:t>A3 Manulife FY2025 report</a:t>
            </a:r>
          </a:p>
          <a:p>
            <a:r>
              <a:t>Printed pp.216–219 / PDF218–221. Discount curves and RA at p.218 / PDF220.</a:t>
            </a:r>
          </a:p>
          <a:p>
            <a:r>
              <a:t>Scope: Group disclosures with currency/liquidity categories</a:t>
            </a:r>
          </a:p>
          <a:p>
            <a:r>
              <a:t>https://www.manulife.com/content/dam/manulife-com/ca/financial-documents/investors/MFC_SR_2025_Y1_EN.pdf</a:t>
            </a:r>
          </a:p>
          <a:p>
            <a:r>
              <a:t>/Users/elvirazhong/Desktop/Manulife_MFC_SR_2025_Y1_EN.pdf</a:t>
            </a:r>
          </a:p>
          <a:p/>
          <a:p>
            <a:r>
              <a:t>A4 Sun Life FY2025 Form 40-F</a:t>
            </a:r>
          </a:p>
          <a:p>
            <a:r>
              <a:t>Financial statements printed pp.69–70 / PDF194–195.</a:t>
            </a:r>
          </a:p>
          <a:p>
            <a:r>
              <a:t>Scope: Group assumptions and CAD weighted curve</a:t>
            </a:r>
          </a:p>
          <a:p>
            <a:r>
              <a:t>https://www.sunlife.com/content/dam/sunlife/regional/global-marketing/documents/com/2025-slf-form-40-f.pdf</a:t>
            </a:r>
          </a:p>
          <a:p>
            <a:r>
              <a:t>/Users/elvirazhong/Desktop/Sunlife_2025-slf-form-40-f.pdf</a:t>
            </a:r>
          </a:p>
          <a:p/>
          <a:p>
            <a:r>
              <a:t>H2 HSBC Life (Singapore) Pte. Ltd. Annual Report 2025</a:t>
            </a:r>
          </a:p>
          <a:p>
            <a:r>
              <a:t>Note 2.2 p.17; Note 3.1 pp.37–38; Note 4.2(e) pp.47–48. Printed and PDF pages coincide.</a:t>
            </a:r>
          </a:p>
          <a:p>
            <a:r>
              <a:t>Scope: Singapore legal entity. INSP is used as the working Singapore mapping, not verified from an internal entity-code register.</a:t>
            </a:r>
          </a:p>
          <a:p>
            <a:r>
              <a:t>https://www.insurance.hsbc.com.sg/content/dam/hsbc/insn/documents/general/annual-report-2025.pdf</a:t>
            </a:r>
          </a:p>
          <a:p>
            <a:r>
              <a:t>/Users/elvirazhong/Documents/ChatGPT/Elvira/tmp/market-audit/HSBC_Singapore_2025.pdf</a:t>
            </a:r>
          </a:p>
          <a:p/>
          <a:p>
            <a:r>
              <a:t>I1 HSIC internal ARF photographs</a:t>
            </a:r>
          </a:p>
          <a:p>
            <a:r>
              <a:t>Credit Spread Analysis p.43; ILP p.61</a:t>
            </a:r>
          </a:p>
          <a:p>
            <a:r>
              <a:t>Scope: User-supplied internal study evidence. Does not establish final approval or a complete current policy.</a:t>
            </a:r>
          </a:p>
          <a:p>
            <a:r>
              <a:t>User supplied internal evidence</a:t>
            </a:r>
          </a:p>
          <a:p>
            <a:r>
              <a:t>/Users/elvirazhong/Downloads/IMG_5177.PNG ; /Users/elvirazhong/Downloads/IMG_5176.PNG</a:t>
            </a:r>
          </a:p>
          <a:p/>
          <a:p>
            <a:r>
              <a:t>I2 INHK internal ARF photographs</a:t>
            </a:r>
          </a:p>
          <a:p>
            <a:r>
              <a:t>Reinvestment Credit Spread pp.46–51</a:t>
            </a:r>
          </a:p>
          <a:p>
            <a:r>
              <a:t>Scope: User-supplied internal study evidence. Does not establish final approval or a complete current policy.</a:t>
            </a:r>
          </a:p>
          <a:p>
            <a:r>
              <a:t>User supplied internal evidence</a:t>
            </a:r>
          </a:p>
          <a:p>
            <a:r>
              <a:t>/Users/elvirazhong/Downloads/IMG_5182.PNG ; /Users/elvirazhong/Downloads/IMG_5184.PNG ; /Users/elvirazhong/Downloads/IMG_5185.PNG ; /Users/elvirazhong/Downloads/IMG_5186.PNG ; /Users/elvirazhong/Downloads/IMG_5187.PNG ; /Users/elvirazhong/Downloads/IMG_5188.PNG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中文讲稿（30秒）</a:t>
            </a:r>
          </a:p>
          <a:p/>
          <a:p>
            <a:r>
              <a:t>RA 放在独立 component 比较。汇丰集团和新加坡实体披露一年期七十五分位；加拿大 Manulife 和 Sun Life 的范围又不同。最重要的可比性例子来自汇丰自己：主要香港实体的一年期七十五分位，相当于 ultimate 口径五十九分位。因此不能只看数字高低就判断谁更保守，也不要把 RA 参数并入 ILP。</a:t>
            </a:r>
          </a:p>
          <a:p/>
          <a:p>
            <a:r>
              <a:t>Scope: FY2025 public company evidence unless a different date is stated. Internal photos are study/proposal evidence, not confirmed approvals. INSP is a working mapping to HSBC Life (Singapore).</a:t>
            </a:r>
          </a:p>
          <a:p/>
          <a:p>
            <a:r>
              <a:t>Sources</a:t>
            </a:r>
          </a:p>
          <a:p/>
          <a:p>
            <a:r>
              <a:t>H1 HSBC Holdings Annual Report 2025</a:t>
            </a:r>
          </a:p>
          <a:p>
            <a:r>
              <a:t>Note 4, Insurance business: Discount rates; Risk adjustment. SEC HTML R21, tables at 31 Dec 2025.</a:t>
            </a:r>
          </a:p>
          <a:p>
            <a:r>
              <a:t>Scope: Group disclosure with named HSBC Life International and Hang Seng Insurance entity rates; group RA policy.</a:t>
            </a:r>
          </a:p>
          <a:p>
            <a:r>
              <a:t>https://www.sec.gov/Archives/edgar/data/1089113/000108911326000010/R21.htm</a:t>
            </a:r>
          </a:p>
          <a:p/>
          <a:p/>
          <a:p>
            <a:r>
              <a:t>H2 HSBC Life (Singapore) Pte. Ltd. Annual Report 2025</a:t>
            </a:r>
          </a:p>
          <a:p>
            <a:r>
              <a:t>Note 2.2 p.17; Note 3.1 pp.37–38; Note 4.2(e) pp.47–48. Printed and PDF pages coincide.</a:t>
            </a:r>
          </a:p>
          <a:p>
            <a:r>
              <a:t>Scope: Singapore legal entity. INSP is used as the working Singapore mapping, not verified from an internal entity-code register.</a:t>
            </a:r>
          </a:p>
          <a:p>
            <a:r>
              <a:t>https://www.insurance.hsbc.com.sg/content/dam/hsbc/insn/documents/general/annual-report-2025.pdf</a:t>
            </a:r>
          </a:p>
          <a:p>
            <a:r>
              <a:t>/Users/elvirazhong/Documents/ChatGPT/Elvira/tmp/market-audit/HSBC_Singapore_2025.pdf</a:t>
            </a:r>
          </a:p>
          <a:p/>
          <a:p>
            <a:r>
              <a:t>W3 Prudential plc FY2025 SEC filing</a:t>
            </a:r>
          </a:p>
          <a:p>
            <a:r>
              <a:t>Note A3, Discount rates and Risk adjustment. HTML, no PDF page.</a:t>
            </a:r>
          </a:p>
          <a:p>
            <a:r>
              <a:t>Scope: Group disclosure, not verified PHKL local entity</a:t>
            </a:r>
          </a:p>
          <a:p>
            <a:r>
              <a:t>https://www.sec.gov/Archives/edgar/data/1116578/000162828026021178/R10.htm</a:t>
            </a:r>
          </a:p>
          <a:p/>
          <a:p/>
          <a:p>
            <a:r>
              <a:t>A1 AIA FY2025 Annual Results Announcement</a:t>
            </a:r>
          </a:p>
          <a:p>
            <a:r>
              <a:t>Note 24, printed pp.173–174 / PDF179–180. Note 34, printed p.185 / PDF191.</a:t>
            </a:r>
          </a:p>
          <a:p>
            <a:r>
              <a:t>Scope: Group currency curves and Group sensitivity</a:t>
            </a:r>
          </a:p>
          <a:p>
            <a:r>
              <a:t>https://aia.gcs-web.com/static-files/c24c2dc8-6d63-4e48-960b-ad6d7a218b75</a:t>
            </a:r>
          </a:p>
          <a:p>
            <a:r>
              <a:t>/Users/elvirazhong/Desktop/AIA_2025 Annual Results Ann.pdf</a:t>
            </a:r>
          </a:p>
          <a:p/>
          <a:p>
            <a:r>
              <a:t>A2 Great Eastern Holdings Annual Report 2025</a:t>
            </a:r>
          </a:p>
          <a:p>
            <a:r>
              <a:t>Note 2.26, printed pp.138–139 / PDF140–141. Note 30(B1), printed p.186 / PDF188.</a:t>
            </a:r>
          </a:p>
          <a:p>
            <a:r>
              <a:t>Scope: Group policy and Singapore-segment sensitivity</a:t>
            </a:r>
          </a:p>
          <a:p>
            <a:r>
              <a:t>https://www.greateasternlife.com/content/dam/corp-site/group/gels-au-corpcomms/english-website/annual-report/great-eastern-holdings-limited-ar-2025.pdf</a:t>
            </a:r>
          </a:p>
          <a:p>
            <a:r>
              <a:t>/Users/elvirazhong/Desktop/great-eastern-holdings-limited-ar-2025.pdf</a:t>
            </a:r>
          </a:p>
          <a:p/>
          <a:p>
            <a:r>
              <a:t>A3 Manulife FY2025 report</a:t>
            </a:r>
          </a:p>
          <a:p>
            <a:r>
              <a:t>Printed pp.216–219 / PDF218–221. Discount curves and RA at p.218 / PDF220.</a:t>
            </a:r>
          </a:p>
          <a:p>
            <a:r>
              <a:t>Scope: Group disclosures with currency/liquidity categories</a:t>
            </a:r>
          </a:p>
          <a:p>
            <a:r>
              <a:t>https://www.manulife.com/content/dam/manulife-com/ca/financial-documents/investors/MFC_SR_2025_Y1_EN.pdf</a:t>
            </a:r>
          </a:p>
          <a:p>
            <a:r>
              <a:t>/Users/elvirazhong/Desktop/Manulife_MFC_SR_2025_Y1_EN.pdf</a:t>
            </a:r>
          </a:p>
          <a:p/>
          <a:p>
            <a:r>
              <a:t>A4 Sun Life FY2025 Form 40-F</a:t>
            </a:r>
          </a:p>
          <a:p>
            <a:r>
              <a:t>Financial statements printed pp.69–70 / PDF194–195.</a:t>
            </a:r>
          </a:p>
          <a:p>
            <a:r>
              <a:t>Scope: Group assumptions and CAD weighted curve</a:t>
            </a:r>
          </a:p>
          <a:p>
            <a:r>
              <a:t>https://www.sunlife.com/content/dam/sunlife/regional/global-marketing/documents/com/2025-slf-form-40-f.pdf</a:t>
            </a:r>
          </a:p>
          <a:p>
            <a:r>
              <a:t>/Users/elvirazhong/Desktop/Sunlife_2025-slf-form-40-f.pdf</a:t>
            </a:r>
          </a:p>
          <a:p/>
          <a:p>
            <a:r>
              <a:t>W1 PwC Singapore IFRS17 initial disclosure analysis</a:t>
            </a:r>
          </a:p>
          <a:p>
            <a:r>
              <a:t>November 2024 analysis of FY2023. RA p.10, discount rates p.11, lapse sensitivity p.12.</a:t>
            </a:r>
          </a:p>
          <a:p>
            <a:r>
              <a:t>Scope: Historical eight-insurer sample</a:t>
            </a:r>
          </a:p>
          <a:p>
            <a:r>
              <a:t>https://www.pwc.com/sg/en/publications/assets/page/ifrs-17-implementation-for-direct-insurers.pdf</a:t>
            </a:r>
          </a:p>
          <a:p/>
          <a:p/>
          <a:p>
            <a:r>
              <a:t>W2 Canada Life Annual Report 2025</a:t>
            </a:r>
          </a:p>
          <a:p>
            <a:r>
              <a:t>Printed pp.13, 23–24 / PDF15, 25–26.</a:t>
            </a:r>
          </a:p>
          <a:p>
            <a:r>
              <a:t>Scope: Company methods and Lifeco RA target</a:t>
            </a:r>
          </a:p>
          <a:p>
            <a:r>
              <a:t>https://www.canadalife.com/content/dam/canadalife/documents/corporate/annual-reports/canada-life-2025-annual-report.pdf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中文讲稿（备查）</a:t>
            </a:r>
          </a:p>
          <a:p/>
          <a:p>
            <a:r>
              <a:t>这里保留内部三、五、十年平均和当前假设。INHK 的假设并不机械等于十年均值；HSIC 与 INHK 的数据总体也不完全同口径。此表用于解释选择依据，不作为实体表现排名。</a:t>
            </a:r>
          </a:p>
          <a:p/>
          <a:p>
            <a:r>
              <a:t>Scope: FY2025 public company evidence unless a different date is stated. Internal photos are study/proposal evidence, not confirmed approvals. INSP is a working mapping to HSBC Life (Singapore).</a:t>
            </a:r>
          </a:p>
          <a:p/>
          <a:p>
            <a:r>
              <a:t>Sources</a:t>
            </a:r>
          </a:p>
          <a:p/>
          <a:p>
            <a:r>
              <a:t>I1 HSIC internal ARF photographs</a:t>
            </a:r>
          </a:p>
          <a:p>
            <a:r>
              <a:t>Credit Spread Analysis p.43; ILP p.61</a:t>
            </a:r>
          </a:p>
          <a:p>
            <a:r>
              <a:t>Scope: User-supplied internal study evidence. Does not establish final approval or a complete current policy.</a:t>
            </a:r>
          </a:p>
          <a:p>
            <a:r>
              <a:t>User supplied internal evidence</a:t>
            </a:r>
          </a:p>
          <a:p>
            <a:r>
              <a:t>/Users/elvirazhong/Downloads/IMG_5177.PNG ; /Users/elvirazhong/Downloads/IMG_5176.PNG</a:t>
            </a:r>
          </a:p>
          <a:p/>
          <a:p>
            <a:r>
              <a:t>I2 INHK internal ARF photographs</a:t>
            </a:r>
          </a:p>
          <a:p>
            <a:r>
              <a:t>Reinvestment Credit Spread pp.46–51</a:t>
            </a:r>
          </a:p>
          <a:p>
            <a:r>
              <a:t>Scope: User-supplied internal study evidence. Does not establish final approval or a complete current policy.</a:t>
            </a:r>
          </a:p>
          <a:p>
            <a:r>
              <a:t>User supplied internal evidence</a:t>
            </a:r>
          </a:p>
          <a:p>
            <a:r>
              <a:t>/Users/elvirazhong/Downloads/IMG_5182.PNG ; /Users/elvirazhong/Downloads/IMG_5184.PNG ; /Users/elvirazhong/Downloads/IMG_5185.PNG ; /Users/elvirazhong/Downloads/IMG_5186.PNG ; /Users/elvirazhong/Downloads/IMG_5187.PNG ; /Users/elvirazhong/Downloads/IMG_5188.PNG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中文讲稿（备查）</a:t>
            </a:r>
          </a:p>
          <a:p/>
          <a:p>
            <a:r>
              <a:t>这是 HSIC 的最终 ILP 输出对比。大部分变动很小，WL 上升，SPD 和 STE 在展示精度下不变。来源把总体下降主要归因于 growth asset assumption 增加，并记录 CSM 约负一百三十万美元。不能把所有业务都说成下降。</a:t>
            </a:r>
          </a:p>
          <a:p/>
          <a:p>
            <a:r>
              <a:t>Scope: FY2025 public company evidence unless a different date is stated. Internal photos are study/proposal evidence, not confirmed approvals. INSP is a working mapping to HSBC Life (Singapore).</a:t>
            </a:r>
          </a:p>
          <a:p/>
          <a:p>
            <a:r>
              <a:t>Sources</a:t>
            </a:r>
          </a:p>
          <a:p/>
          <a:p>
            <a:r>
              <a:t>I1 HSIC internal ARF photographs</a:t>
            </a:r>
          </a:p>
          <a:p>
            <a:r>
              <a:t>Credit Spread Analysis p.43; ILP p.61</a:t>
            </a:r>
          </a:p>
          <a:p>
            <a:r>
              <a:t>Scope: User-supplied internal study evidence. Does not establish final approval or a complete current policy.</a:t>
            </a:r>
          </a:p>
          <a:p>
            <a:r>
              <a:t>User supplied internal evidence</a:t>
            </a:r>
          </a:p>
          <a:p>
            <a:r>
              <a:t>/Users/elvirazhong/Downloads/IMG_5177.PNG ; /Users/elvirazhong/Downloads/IMG_5176.PNG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中文讲稿（备查）</a:t>
            </a:r>
          </a:p>
          <a:p/>
          <a:p>
            <a:r>
              <a:t>这页把汇丰公开数字放在一起，便于核数。全部是总折现率；不同实体的资产负债构成不同，不应把差值直接解释成 ILP 差值。</a:t>
            </a:r>
          </a:p>
          <a:p/>
          <a:p>
            <a:r>
              <a:t>Scope: FY2025 public company evidence unless a different date is stated. Internal photos are study/proposal evidence, not confirmed approvals. INSP is a working mapping to HSBC Life (Singapore).</a:t>
            </a:r>
          </a:p>
          <a:p/>
          <a:p>
            <a:r>
              <a:t>Sources</a:t>
            </a:r>
          </a:p>
          <a:p/>
          <a:p>
            <a:r>
              <a:t>H1 HSBC Holdings Annual Report 2025</a:t>
            </a:r>
          </a:p>
          <a:p>
            <a:r>
              <a:t>Note 4, Insurance business: Discount rates; Risk adjustment. SEC HTML R21, tables at 31 Dec 2025.</a:t>
            </a:r>
          </a:p>
          <a:p>
            <a:r>
              <a:t>Scope: Group disclosure with named HSBC Life International and Hang Seng Insurance entity rates; group RA policy.</a:t>
            </a:r>
          </a:p>
          <a:p>
            <a:r>
              <a:t>https://www.sec.gov/Archives/edgar/data/1089113/000108911326000010/R21.htm</a:t>
            </a:r>
          </a:p>
          <a:p/>
          <a:p/>
          <a:p>
            <a:r>
              <a:t>H2 HSBC Life (Singapore) Pte. Ltd. Annual Report 2025</a:t>
            </a:r>
          </a:p>
          <a:p>
            <a:r>
              <a:t>Note 2.2 p.17; Note 3.1 pp.37–38; Note 4.2(e) pp.47–48. Printed and PDF pages coincide.</a:t>
            </a:r>
          </a:p>
          <a:p>
            <a:r>
              <a:t>Scope: Singapore legal entity. INSP is used as the working Singapore mapping, not verified from an internal entity-code register.</a:t>
            </a:r>
          </a:p>
          <a:p>
            <a:r>
              <a:t>https://www.insurance.hsbc.com.sg/content/dam/hsbc/insn/documents/general/annual-report-2025.pdf</a:t>
            </a:r>
          </a:p>
          <a:p>
            <a:r>
              <a:t>/Users/elvirazhong/Documents/ChatGPT/Elvira/tmp/market-audit/HSBC_Singapore_2025.pdf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中文讲稿（备查）</a:t>
            </a:r>
          </a:p>
          <a:p/>
          <a:p>
            <a:r>
              <a:t>曲线只辅助展示。汇丰新加坡是本地实体曲线，AIA 是集团 SGD 曲线，Great Eastern 和保诚披露的是范围。不能根据曲线高低单独判断 ILP 是否激进。</a:t>
            </a:r>
          </a:p>
          <a:p/>
          <a:p>
            <a:r>
              <a:t>Scope: FY2025 public company evidence unless a different date is stated. Internal photos are study/proposal evidence, not confirmed approvals. INSP is a working mapping to HSBC Life (Singapore).</a:t>
            </a:r>
          </a:p>
          <a:p/>
          <a:p>
            <a:r>
              <a:t>Sources</a:t>
            </a:r>
          </a:p>
          <a:p/>
          <a:p>
            <a:r>
              <a:t>H2 HSBC Life (Singapore) Pte. Ltd. Annual Report 2025</a:t>
            </a:r>
          </a:p>
          <a:p>
            <a:r>
              <a:t>Note 2.2 p.17; Note 3.1 pp.37–38; Note 4.2(e) pp.47–48. Printed and PDF pages coincide.</a:t>
            </a:r>
          </a:p>
          <a:p>
            <a:r>
              <a:t>Scope: Singapore legal entity. INSP is used as the working Singapore mapping, not verified from an internal entity-code register.</a:t>
            </a:r>
          </a:p>
          <a:p>
            <a:r>
              <a:t>https://www.insurance.hsbc.com.sg/content/dam/hsbc/insn/documents/general/annual-report-2025.pdf</a:t>
            </a:r>
          </a:p>
          <a:p>
            <a:r>
              <a:t>/Users/elvirazhong/Documents/ChatGPT/Elvira/tmp/market-audit/HSBC_Singapore_2025.pdf</a:t>
            </a:r>
          </a:p>
          <a:p/>
          <a:p>
            <a:r>
              <a:t>A1 AIA FY2025 Annual Results Announcement</a:t>
            </a:r>
          </a:p>
          <a:p>
            <a:r>
              <a:t>Note 24, printed pp.173–174 / PDF179–180. Note 34, printed p.185 / PDF191.</a:t>
            </a:r>
          </a:p>
          <a:p>
            <a:r>
              <a:t>Scope: Group currency curves and Group sensitivity</a:t>
            </a:r>
          </a:p>
          <a:p>
            <a:r>
              <a:t>https://aia.gcs-web.com/static-files/c24c2dc8-6d63-4e48-960b-ad6d7a218b75</a:t>
            </a:r>
          </a:p>
          <a:p>
            <a:r>
              <a:t>/Users/elvirazhong/Desktop/AIA_2025 Annual Results Ann.pdf</a:t>
            </a:r>
          </a:p>
          <a:p/>
          <a:p>
            <a:r>
              <a:t>A2 Great Eastern Holdings Annual Report 2025</a:t>
            </a:r>
          </a:p>
          <a:p>
            <a:r>
              <a:t>Note 2.26, printed pp.138–139 / PDF140–141. Note 30(B1), printed p.186 / PDF188.</a:t>
            </a:r>
          </a:p>
          <a:p>
            <a:r>
              <a:t>Scope: Group policy and Singapore-segment sensitivity</a:t>
            </a:r>
          </a:p>
          <a:p>
            <a:r>
              <a:t>https://www.greateasternlife.com/content/dam/corp-site/group/gels-au-corpcomms/english-website/annual-report/great-eastern-holdings-limited-ar-2025.pdf</a:t>
            </a:r>
          </a:p>
          <a:p>
            <a:r>
              <a:t>/Users/elvirazhong/Desktop/great-eastern-holdings-limited-ar-2025.pdf</a:t>
            </a:r>
          </a:p>
          <a:p/>
          <a:p>
            <a:r>
              <a:t>W3 Prudential plc FY2025 SEC filing</a:t>
            </a:r>
          </a:p>
          <a:p>
            <a:r>
              <a:t>Note A3, Discount rates and Risk adjustment. HTML, no PDF page.</a:t>
            </a:r>
          </a:p>
          <a:p>
            <a:r>
              <a:t>Scope: Group disclosure, not verified PHKL local entity</a:t>
            </a:r>
          </a:p>
          <a:p>
            <a:r>
              <a:t>https://www.sec.gov/Archives/edgar/data/1116578/000162828026021178/R10.htm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中文讲稿（备查）</a:t>
            </a:r>
          </a:p>
          <a:p/>
          <a:p>
            <a:r>
              <a:t>加拿大的提升点是参考方法结构清晰。流动性分类、资产基准和长端参数都有定义，但这不代表所有公司必须使用同一条曲线，也不代表可将加元系数直接用于我们的港元和新元业务。</a:t>
            </a:r>
          </a:p>
          <a:p/>
          <a:p>
            <a:r>
              <a:t>Scope: FY2025 public company evidence unless a different date is stated. Internal photos are study/proposal evidence, not confirmed approvals. INSP is a working mapping to HSBC Life (Singapore).</a:t>
            </a:r>
          </a:p>
          <a:p/>
          <a:p>
            <a:r>
              <a:t>Sources</a:t>
            </a:r>
          </a:p>
          <a:p/>
          <a:p>
            <a:r>
              <a:t>A5 CIA educational note 225094e</a:t>
            </a:r>
          </a:p>
          <a:p>
            <a:r>
              <a:t>26 August 2025. pp.5–6, 26, 35–40. Parameters on p.36 effective 15 October 2025.</a:t>
            </a:r>
          </a:p>
          <a:p>
            <a:r>
              <a:t>Scope: Dated professional reference methodology</a:t>
            </a:r>
          </a:p>
          <a:p>
            <a:r>
              <a:t>https://www.cia-ica.ca/publications/225094e/</a:t>
            </a:r>
          </a:p>
          <a:p>
            <a:r>
              <a:t>/Users/elvirazhong/Desktop/CIA_225094e.pdf</a:t>
            </a:r>
          </a:p>
          <a:p/>
          <a:p>
            <a:r>
              <a:t>A3 Manulife FY2025 report</a:t>
            </a:r>
          </a:p>
          <a:p>
            <a:r>
              <a:t>Printed pp.216–219 / PDF218–221. Discount curves and RA at p.218 / PDF220.</a:t>
            </a:r>
          </a:p>
          <a:p>
            <a:r>
              <a:t>Scope: Group disclosures with currency/liquidity categories</a:t>
            </a:r>
          </a:p>
          <a:p>
            <a:r>
              <a:t>https://www.manulife.com/content/dam/manulife-com/ca/financial-documents/investors/MFC_SR_2025_Y1_EN.pdf</a:t>
            </a:r>
          </a:p>
          <a:p>
            <a:r>
              <a:t>/Users/elvirazhong/Desktop/Manulife_MFC_SR_2025_Y1_EN.pdf</a:t>
            </a:r>
          </a:p>
          <a:p/>
          <a:p>
            <a:r>
              <a:t>A4 Sun Life FY2025 Form 40-F</a:t>
            </a:r>
          </a:p>
          <a:p>
            <a:r>
              <a:t>Financial statements printed pp.69–70 / PDF194–195.</a:t>
            </a:r>
          </a:p>
          <a:p>
            <a:r>
              <a:t>Scope: Group assumptions and CAD weighted curve</a:t>
            </a:r>
          </a:p>
          <a:p>
            <a:r>
              <a:t>https://www.sunlife.com/content/dam/sunlife/regional/global-marketing/documents/com/2025-slf-form-40-f.pdf</a:t>
            </a:r>
          </a:p>
          <a:p>
            <a:r>
              <a:t>/Users/elvirazhong/Desktop/Sunlife_2025-slf-form-40-f.pdf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中文讲稿（备查）</a:t>
            </a:r>
          </a:p>
          <a:p/>
          <a:p>
            <a:r>
              <a:t>这页解释原截图的新加坡八家公司来源。它是历史样本，不能当成二零二五年最新全市场调查。主汇报已优先用汇丰新加坡二零二五年原始年报补充。</a:t>
            </a:r>
          </a:p>
          <a:p/>
          <a:p>
            <a:r>
              <a:t>Scope: FY2025 public company evidence unless a different date is stated. Internal photos are study/proposal evidence, not confirmed approvals. INSP is a working mapping to HSBC Life (Singapore).</a:t>
            </a:r>
          </a:p>
          <a:p/>
          <a:p>
            <a:r>
              <a:t>Sources</a:t>
            </a:r>
          </a:p>
          <a:p/>
          <a:p>
            <a:r>
              <a:t>W1 PwC Singapore IFRS17 initial disclosure analysis</a:t>
            </a:r>
          </a:p>
          <a:p>
            <a:r>
              <a:t>November 2024 analysis of FY2023. RA p.10, discount rates p.11, lapse sensitivity p.12.</a:t>
            </a:r>
          </a:p>
          <a:p>
            <a:r>
              <a:t>Scope: Historical eight-insurer sample</a:t>
            </a:r>
          </a:p>
          <a:p>
            <a:r>
              <a:t>https://www.pwc.com/sg/en/publications/assets/page/ifrs-17-implementation-for-direct-insurers.pdf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中文讲稿（备查）</a:t>
            </a:r>
          </a:p>
          <a:p/>
          <a:p>
            <a:r>
              <a:t>这里集中保留公开来源。对集团报告、当地实体报告和专业参考分别标注，避免把集团级信息说成本地已确认政策。</a:t>
            </a:r>
          </a:p>
          <a:p/>
          <a:p>
            <a:r>
              <a:t>Scope: FY2025 public company evidence unless a different date is stated. Internal photos are study/proposal evidence, not confirmed approvals. INSP is a working mapping to HSBC Life (Singapore).</a:t>
            </a:r>
          </a:p>
          <a:p/>
          <a:p>
            <a:r>
              <a:t>Sources</a:t>
            </a:r>
          </a:p>
          <a:p/>
          <a:p>
            <a:r>
              <a:t>H1 HSBC Holdings Annual Report 2025</a:t>
            </a:r>
          </a:p>
          <a:p>
            <a:r>
              <a:t>Note 4, Insurance business: Discount rates; Risk adjustment. SEC HTML R21, tables at 31 Dec 2025.</a:t>
            </a:r>
          </a:p>
          <a:p>
            <a:r>
              <a:t>Scope: Group disclosure with named HSBC Life International and Hang Seng Insurance entity rates; group RA policy.</a:t>
            </a:r>
          </a:p>
          <a:p>
            <a:r>
              <a:t>https://www.sec.gov/Archives/edgar/data/1089113/000108911326000010/R21.htm</a:t>
            </a:r>
          </a:p>
          <a:p/>
          <a:p/>
          <a:p>
            <a:r>
              <a:t>H2 HSBC Life (Singapore) Pte. Ltd. Annual Report 2025</a:t>
            </a:r>
          </a:p>
          <a:p>
            <a:r>
              <a:t>Note 2.2 p.17; Note 3.1 pp.37–38; Note 4.2(e) pp.47–48. Printed and PDF pages coincide.</a:t>
            </a:r>
          </a:p>
          <a:p>
            <a:r>
              <a:t>Scope: Singapore legal entity. INSP is used as the working Singapore mapping, not verified from an internal entity-code register.</a:t>
            </a:r>
          </a:p>
          <a:p>
            <a:r>
              <a:t>https://www.insurance.hsbc.com.sg/content/dam/hsbc/insn/documents/general/annual-report-2025.pdf</a:t>
            </a:r>
          </a:p>
          <a:p>
            <a:r>
              <a:t>/Users/elvirazhong/Documents/ChatGPT/Elvira/tmp/market-audit/HSBC_Singapore_2025.pdf</a:t>
            </a:r>
          </a:p>
          <a:p/>
          <a:p>
            <a:r>
              <a:t>A1 AIA FY2025 Annual Results Announcement</a:t>
            </a:r>
          </a:p>
          <a:p>
            <a:r>
              <a:t>Note 24, printed pp.173–174 / PDF179–180. Note 34, printed p.185 / PDF191.</a:t>
            </a:r>
          </a:p>
          <a:p>
            <a:r>
              <a:t>Scope: Group currency curves and Group sensitivity</a:t>
            </a:r>
          </a:p>
          <a:p>
            <a:r>
              <a:t>https://aia.gcs-web.com/static-files/c24c2dc8-6d63-4e48-960b-ad6d7a218b75</a:t>
            </a:r>
          </a:p>
          <a:p>
            <a:r>
              <a:t>/Users/elvirazhong/Desktop/AIA_2025 Annual Results Ann.pdf</a:t>
            </a:r>
          </a:p>
          <a:p/>
          <a:p>
            <a:r>
              <a:t>A2 Great Eastern Holdings Annual Report 2025</a:t>
            </a:r>
          </a:p>
          <a:p>
            <a:r>
              <a:t>Note 2.26, printed pp.138–139 / PDF140–141. Note 30(B1), printed p.186 / PDF188.</a:t>
            </a:r>
          </a:p>
          <a:p>
            <a:r>
              <a:t>Scope: Group policy and Singapore-segment sensitivity</a:t>
            </a:r>
          </a:p>
          <a:p>
            <a:r>
              <a:t>https://www.greateasternlife.com/content/dam/corp-site/group/gels-au-corpcomms/english-website/annual-report/great-eastern-holdings-limited-ar-2025.pdf</a:t>
            </a:r>
          </a:p>
          <a:p>
            <a:r>
              <a:t>/Users/elvirazhong/Desktop/great-eastern-holdings-limited-ar-2025.pdf</a:t>
            </a:r>
          </a:p>
          <a:p/>
          <a:p>
            <a:r>
              <a:t>A3 Manulife FY2025 report</a:t>
            </a:r>
          </a:p>
          <a:p>
            <a:r>
              <a:t>Printed pp.216–219 / PDF218–221. Discount curves and RA at p.218 / PDF220.</a:t>
            </a:r>
          </a:p>
          <a:p>
            <a:r>
              <a:t>Scope: Group disclosures with currency/liquidity categories</a:t>
            </a:r>
          </a:p>
          <a:p>
            <a:r>
              <a:t>https://www.manulife.com/content/dam/manulife-com/ca/financial-documents/investors/MFC_SR_2025_Y1_EN.pdf</a:t>
            </a:r>
          </a:p>
          <a:p>
            <a:r>
              <a:t>/Users/elvirazhong/Desktop/Manulife_MFC_SR_2025_Y1_EN.pdf</a:t>
            </a:r>
          </a:p>
          <a:p/>
          <a:p>
            <a:r>
              <a:t>A4 Sun Life FY2025 Form 40-F</a:t>
            </a:r>
          </a:p>
          <a:p>
            <a:r>
              <a:t>Financial statements printed pp.69–70 / PDF194–195.</a:t>
            </a:r>
          </a:p>
          <a:p>
            <a:r>
              <a:t>Scope: Group assumptions and CAD weighted curve</a:t>
            </a:r>
          </a:p>
          <a:p>
            <a:r>
              <a:t>https://www.sunlife.com/content/dam/sunlife/regional/global-marketing/documents/com/2025-slf-form-40-f.pdf</a:t>
            </a:r>
          </a:p>
          <a:p>
            <a:r>
              <a:t>/Users/elvirazhong/Desktop/Sunlife_2025-slf-form-40-f.pdf</a:t>
            </a:r>
          </a:p>
          <a:p/>
          <a:p>
            <a:r>
              <a:t>A5 CIA educational note 225094e</a:t>
            </a:r>
          </a:p>
          <a:p>
            <a:r>
              <a:t>26 August 2025. pp.5–6, 26, 35–40. Parameters on p.36 effective 15 October 2025.</a:t>
            </a:r>
          </a:p>
          <a:p>
            <a:r>
              <a:t>Scope: Dated professional reference methodology</a:t>
            </a:r>
          </a:p>
          <a:p>
            <a:r>
              <a:t>https://www.cia-ica.ca/publications/225094e/</a:t>
            </a:r>
          </a:p>
          <a:p>
            <a:r>
              <a:t>/Users/elvirazhong/Desktop/CIA_225094e.pdf</a:t>
            </a:r>
          </a:p>
          <a:p/>
          <a:p>
            <a:r>
              <a:t>W1 PwC Singapore IFRS17 initial disclosure analysis</a:t>
            </a:r>
          </a:p>
          <a:p>
            <a:r>
              <a:t>November 2024 analysis of FY2023. RA p.10, discount rates p.11, lapse sensitivity p.12.</a:t>
            </a:r>
          </a:p>
          <a:p>
            <a:r>
              <a:t>Scope: Historical eight-insurer sample</a:t>
            </a:r>
          </a:p>
          <a:p>
            <a:r>
              <a:t>https://www.pwc.com/sg/en/publications/assets/page/ifrs-17-implementation-for-direct-insurers.pdf</a:t>
            </a:r>
          </a:p>
          <a:p/>
          <a:p/>
          <a:p>
            <a:r>
              <a:t>W2 Canada Life Annual Report 2025</a:t>
            </a:r>
          </a:p>
          <a:p>
            <a:r>
              <a:t>Printed pp.13, 23–24 / PDF15, 25–26.</a:t>
            </a:r>
          </a:p>
          <a:p>
            <a:r>
              <a:t>Scope: Company methods and Lifeco RA target</a:t>
            </a:r>
          </a:p>
          <a:p>
            <a:r>
              <a:t>https://www.canadalife.com/content/dam/canadalife/documents/corporate/annual-reports/canada-life-2025-annual-report.pdf</a:t>
            </a:r>
          </a:p>
          <a:p/>
          <a:p/>
          <a:p>
            <a:r>
              <a:t>W3 Prudential plc FY2025 SEC filing</a:t>
            </a:r>
          </a:p>
          <a:p>
            <a:r>
              <a:t>Note A3, Discount rates and Risk adjustment. HTML, no PDF page.</a:t>
            </a:r>
          </a:p>
          <a:p>
            <a:r>
              <a:t>Scope: Group disclosure, not verified PHKL local entity</a:t>
            </a:r>
          </a:p>
          <a:p>
            <a:r>
              <a:t>https://www.sec.gov/Archives/edgar/data/1116578/000162828026021178/R10.htm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hyperlink" Target="https://www.canadalife.com/content/dam/canadalife/documents/corporate/annual-reports/canada-life-2025-annual-report.pdf" TargetMode="External"/><Relationship Id="rId8" Type="http://schemas.openxmlformats.org/officeDocument/2006/relationships/hyperlink" Target="https://www.pwc.com/sg/en/publications/assets/page/ifrs-17-implementation-for-direct-insurers.pdf" TargetMode="External"/><Relationship Id="rId7" Type="http://schemas.openxmlformats.org/officeDocument/2006/relationships/hyperlink" Target="https://www.cia-ica.ca/publications/225094e/" TargetMode="External"/><Relationship Id="rId6" Type="http://schemas.openxmlformats.org/officeDocument/2006/relationships/hyperlink" Target="https://www.sunlife.com/content/dam/sunlife/regional/global-marketing/documents/com/2025-slf-form-40-f.pdf" TargetMode="External"/><Relationship Id="rId5" Type="http://schemas.openxmlformats.org/officeDocument/2006/relationships/hyperlink" Target="https://www.manulife.com/content/dam/manulife-com/ca/financial-documents/investors/MFC_SR_2025_Y1_EN.pdf" TargetMode="External"/><Relationship Id="rId4" Type="http://schemas.openxmlformats.org/officeDocument/2006/relationships/hyperlink" Target="https://www.greateasternlife.com/content/dam/corp-site/group/gels-au-corpcomms/english-website/annual-report/great-eastern-holdings-limited-ar-2025.pdf" TargetMode="External"/><Relationship Id="rId3" Type="http://schemas.openxmlformats.org/officeDocument/2006/relationships/hyperlink" Target="https://aia.gcs-web.com/static-files/c24c2dc8-6d63-4e48-960b-ad6d7a218b75" TargetMode="External"/><Relationship Id="rId2" Type="http://schemas.openxmlformats.org/officeDocument/2006/relationships/hyperlink" Target="https://www.insurance.hsbc.com.sg/content/dam/hsbc/insn/documents/general/annual-report-2025.pdf" TargetMode="External"/><Relationship Id="rId12" Type="http://schemas.openxmlformats.org/officeDocument/2006/relationships/notesSlide" Target="../notesSlides/notesSlide13.xml"/><Relationship Id="rId11" Type="http://schemas.openxmlformats.org/officeDocument/2006/relationships/slideLayout" Target="../slideLayouts/slideLayout6.xml"/><Relationship Id="rId10" Type="http://schemas.openxmlformats.org/officeDocument/2006/relationships/hyperlink" Target="https://www.sec.gov/Archives/edgar/data/1116578/000162828026021178/R10.htm" TargetMode="External"/><Relationship Id="rId1" Type="http://schemas.openxmlformats.org/officeDocument/2006/relationships/hyperlink" Target="https://www.sec.gov/Archives/edgar/data/1089113/000108911326000010/R21.ht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 6"/>
          <p:cNvSpPr>
            <a:spLocks noGrp="1"/>
          </p:cNvSpPr>
          <p:nvPr/>
        </p:nvSpPr>
        <p:spPr>
          <a:xfrm>
            <a:off x="457200" y="266700"/>
            <a:ext cx="112776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Discount Rate approach</a:t>
            </a:r>
            <a:endParaRPr sz="3300" b="1">
              <a:solidFill>
                <a:srgbClr val="22222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457200" y="952500"/>
            <a:ext cx="11277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HSBC baseline alongside named market comparators | FY2025 unless stated</a:t>
            </a:r>
            <a:endParaRPr sz="1650" b="0">
              <a:solidFill>
                <a:srgbClr val="555555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457200" y="6477000"/>
            <a:ext cx="11277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HSBC internal</a:t>
            </a:r>
            <a:endParaRPr sz="975" b="0">
              <a:solidFill>
                <a:srgbClr val="555555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graphicFrame>
        <p:nvGraphicFramePr>
          <p:cNvPr id="5" name="Table 4"/>
          <p:cNvGraphicFramePr/>
          <p:nvPr/>
        </p:nvGraphicFramePr>
        <p:xfrm>
          <a:off x="457200" y="1543050"/>
          <a:ext cx="11277600" cy="3810000"/>
        </p:xfrm>
        <a:graphic>
          <a:graphicData uri="http://schemas.openxmlformats.org/drawingml/2006/table">
            <a:tbl>
              <a:tblPr/>
              <a:tblGrid>
                <a:gridCol w="1809750"/>
                <a:gridCol w="3162300"/>
                <a:gridCol w="3152775"/>
                <a:gridCol w="3152775"/>
              </a:tblGrid>
              <a:tr h="4953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Component</a:t>
                      </a:r>
                      <a:endParaRPr sz="1575" b="1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T w="9525">
                      <a:solidFill>
                        <a:srgbClr val="D8DCDF"/>
                      </a:solidFill>
                      <a:prstDash val="solid"/>
                    </a:lnT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Hong Kong</a:t>
                      </a:r>
                      <a:endParaRPr sz="1575" b="1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T w="9525">
                      <a:solidFill>
                        <a:srgbClr val="D8DCDF"/>
                      </a:solidFill>
                      <a:prstDash val="solid"/>
                    </a:lnT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Singapore</a:t>
                      </a:r>
                      <a:endParaRPr sz="1575" b="1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T w="9525">
                      <a:solidFill>
                        <a:srgbClr val="D8DCDF"/>
                      </a:solidFill>
                      <a:prstDash val="solid"/>
                    </a:lnT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Canada</a:t>
                      </a:r>
                      <a:endParaRPr sz="1575" b="1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T w="9525">
                      <a:solidFill>
                        <a:srgbClr val="D8DCDF"/>
                      </a:solidFill>
                      <a:prstDash val="solid"/>
                    </a:lnT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222222"/>
                    </a:solidFill>
                  </a:tcPr>
                </a:tc>
              </a:tr>
              <a:tr h="11049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HSBC / market method</a:t>
                      </a:r>
                      <a:endParaRPr sz="157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HSBC: bottom-up (BU)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AIA Group: primarily top-down (TD)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Prudential Group: BU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HSBC Life SG: BU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Great Eastern: BU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AIA SG: TD (FY2023 sample)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Manulife / Sun Life: RF + liquidity for relevant business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Canada Life: TD and BU by business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</a:tr>
              <a:tr h="11049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Curve starting point</a:t>
                      </a:r>
                      <a:endParaRPr sz="157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HSBC: refer to group policy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Prudential: HKD swaps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AIA: reference-portfolio yields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HSBC: observable RF + ILP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GE: RF/UFR with MAS RBC2 reference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BU: government RF + liquidity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TD: reference portfolio less asset-only risks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049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Comparison scope</a:t>
                      </a:r>
                      <a:endParaRPr sz="157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HSBC named-entity rates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AIA / Prudential group policy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Local HSBC disclosure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GE group policy; Singapore context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Named company / relevant product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CIA is a professional reference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>
            <a:spLocks noGrp="1"/>
          </p:cNvSpPr>
          <p:nvPr/>
        </p:nvSpPr>
        <p:spPr>
          <a:xfrm>
            <a:off x="457200" y="5591175"/>
            <a:ext cx="11277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HSBC already has a BU baseline; the useful comparison is how each component is calibrated.</a:t>
            </a:r>
            <a:endParaRPr sz="1725" b="1">
              <a:solidFill>
                <a:srgbClr val="B8101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 6"/>
          <p:cNvSpPr>
            <a:spLocks noGrp="1"/>
          </p:cNvSpPr>
          <p:nvPr/>
        </p:nvSpPr>
        <p:spPr>
          <a:xfrm>
            <a:off x="457200" y="266700"/>
            <a:ext cx="112776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ILP approach</a:t>
            </a:r>
            <a:endParaRPr sz="3300" b="1">
              <a:solidFill>
                <a:srgbClr val="22222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457200" y="952500"/>
            <a:ext cx="11277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Reference spread, liability liquidity and applied premium — compared by market</a:t>
            </a:r>
            <a:endParaRPr sz="1650" b="0">
              <a:solidFill>
                <a:srgbClr val="555555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457200" y="6477000"/>
            <a:ext cx="11277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HSBC internal</a:t>
            </a:r>
            <a:endParaRPr sz="975" b="0">
              <a:solidFill>
                <a:srgbClr val="555555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graphicFrame>
        <p:nvGraphicFramePr>
          <p:cNvPr id="5" name="Table 4"/>
          <p:cNvGraphicFramePr/>
          <p:nvPr/>
        </p:nvGraphicFramePr>
        <p:xfrm>
          <a:off x="457200" y="1543050"/>
          <a:ext cx="11277600" cy="3810000"/>
        </p:xfrm>
        <a:graphic>
          <a:graphicData uri="http://schemas.openxmlformats.org/drawingml/2006/table">
            <a:tbl>
              <a:tblPr/>
              <a:tblGrid>
                <a:gridCol w="1809750"/>
                <a:gridCol w="3162300"/>
                <a:gridCol w="3152775"/>
                <a:gridCol w="3152775"/>
              </a:tblGrid>
              <a:tr h="4953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ILP component</a:t>
                      </a:r>
                      <a:endParaRPr sz="1575" b="1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T w="9525">
                      <a:solidFill>
                        <a:srgbClr val="D8DCDF"/>
                      </a:solidFill>
                      <a:prstDash val="solid"/>
                    </a:lnT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Hong Kong</a:t>
                      </a:r>
                      <a:endParaRPr sz="1575" b="1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T w="9525">
                      <a:solidFill>
                        <a:srgbClr val="D8DCDF"/>
                      </a:solidFill>
                      <a:prstDash val="solid"/>
                    </a:lnT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Singapore</a:t>
                      </a:r>
                      <a:endParaRPr sz="1575" b="1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T w="9525">
                      <a:solidFill>
                        <a:srgbClr val="D8DCDF"/>
                      </a:solidFill>
                      <a:prstDash val="solid"/>
                    </a:lnT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Canada</a:t>
                      </a:r>
                      <a:endParaRPr sz="1575" b="1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T w="9525">
                      <a:solidFill>
                        <a:srgbClr val="D8DCDF"/>
                      </a:solidFill>
                      <a:prstDash val="solid"/>
                    </a:lnT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222222"/>
                    </a:solidFill>
                  </a:tcPr>
                </a:tc>
              </a:tr>
              <a:tr h="11049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Reference spread</a:t>
                      </a:r>
                      <a:endParaRPr sz="157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Prudential: reference-asset yield − RF − credit allowance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AIA: adjusted reference yields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GE: currency reference-asset spread, adjusted for credit risk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HSBC: RF + liability ILP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Sun Life: asset spread after credit losses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Canada Life BU: external liquidity benchmark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</a:tr>
              <a:tr h="11049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Liability mapping</a:t>
                      </a:r>
                      <a:endParaRPr sz="157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Prudential: 0% / 50% / 100% application; asset-earning cap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HSBC internal: fund-level output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GE: product scoring → liquidity bucket / application ratio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HSBC: contract liquidity characteristics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Manulife: liquidity categories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CIA: liquid / intermediate / illiquid reference curves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049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Data / interpretation</a:t>
                      </a:r>
                      <a:endParaRPr sz="157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HSIC proposed ILP: 42.1–72.4 bps across displayed business labels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HSBC SG 10Y SGD total: 2.46%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Separate ILP not identified in reviewed table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CIA liquid: 90% × provincial spread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Illiquid 5Y+: 50 bps + 70% × IG spread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>
            <a:spLocks noGrp="1"/>
          </p:cNvSpPr>
          <p:nvPr/>
        </p:nvSpPr>
        <p:spPr>
          <a:xfrm>
            <a:off x="457200" y="5591175"/>
            <a:ext cx="11277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HSBC benchmark: explain the reference spread → credit adjustment → liquidity mapping → applied ILP.</a:t>
            </a:r>
            <a:endParaRPr sz="1725" b="1">
              <a:solidFill>
                <a:srgbClr val="B8101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 6"/>
          <p:cNvSpPr>
            <a:spLocks noGrp="1"/>
          </p:cNvSpPr>
          <p:nvPr/>
        </p:nvSpPr>
        <p:spPr>
          <a:xfrm>
            <a:off x="457200" y="266700"/>
            <a:ext cx="112776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Credit Spread Component</a:t>
            </a:r>
            <a:endParaRPr sz="3300" b="1">
              <a:solidFill>
                <a:srgbClr val="22222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457200" y="952500"/>
            <a:ext cx="11277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Keep benchmark adjustments, credit deductions and final ILP separate</a:t>
            </a:r>
            <a:endParaRPr sz="1650" b="0">
              <a:solidFill>
                <a:srgbClr val="555555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457200" y="6477000"/>
            <a:ext cx="11277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HSBC internal</a:t>
            </a:r>
            <a:endParaRPr sz="975" b="0">
              <a:solidFill>
                <a:srgbClr val="555555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graphicFrame>
        <p:nvGraphicFramePr>
          <p:cNvPr id="5" name="Table 4"/>
          <p:cNvGraphicFramePr/>
          <p:nvPr/>
        </p:nvGraphicFramePr>
        <p:xfrm>
          <a:off x="457200" y="1543050"/>
          <a:ext cx="11277600" cy="3860800"/>
        </p:xfrm>
        <a:graphic>
          <a:graphicData uri="http://schemas.openxmlformats.org/drawingml/2006/table">
            <a:tbl>
              <a:tblPr/>
              <a:tblGrid>
                <a:gridCol w="1809750"/>
                <a:gridCol w="3162300"/>
                <a:gridCol w="3152775"/>
                <a:gridCol w="3152775"/>
              </a:tblGrid>
              <a:tr h="4953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Credit spread</a:t>
                      </a:r>
                      <a:endParaRPr sz="1575" b="1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T w="9525">
                      <a:solidFill>
                        <a:srgbClr val="D8DCDF"/>
                      </a:solidFill>
                      <a:prstDash val="solid"/>
                    </a:lnT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Hong Kong</a:t>
                      </a:r>
                      <a:endParaRPr sz="1575" b="1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T w="9525">
                      <a:solidFill>
                        <a:srgbClr val="D8DCDF"/>
                      </a:solidFill>
                      <a:prstDash val="solid"/>
                    </a:lnT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Singapore</a:t>
                      </a:r>
                      <a:endParaRPr sz="1575" b="1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T w="9525">
                      <a:solidFill>
                        <a:srgbClr val="D8DCDF"/>
                      </a:solidFill>
                      <a:prstDash val="solid"/>
                    </a:lnT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Canada</a:t>
                      </a:r>
                      <a:endParaRPr sz="1575" b="1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T w="9525">
                      <a:solidFill>
                        <a:srgbClr val="D8DCDF"/>
                      </a:solidFill>
                      <a:prstDash val="solid"/>
                    </a:lnT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222222"/>
                    </a:solidFill>
                  </a:tcPr>
                </a:tc>
              </a:tr>
              <a:tr h="11049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External treatment</a:t>
                      </a:r>
                      <a:endParaRPr sz="157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AIA: remove irrelevant risks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Prudential: default / downgrade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allowance of 6–32 bps (2025)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GE: credit-risk-adjusted market spread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Sun Life: expected / unexpected credit losses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Canada Life TD: credit risk removed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</a:tr>
              <a:tr h="113538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HSBC internal evidence</a:t>
                      </a:r>
                      <a:endParaRPr sz="157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HSIC: target rating mix 85 / 15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+10 bps swap-basis adjustment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INHK: reinvestment spread within ILP and LTIR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N/A</a:t>
                      </a:r>
                      <a:endParaRPr lang="en-US"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N/A</a:t>
                      </a:r>
                      <a:endParaRPr lang="en-US"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049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What can be compared</a:t>
                      </a:r>
                      <a:endParaRPr sz="157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Match currency, tenor, rating and RF basis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HSIC +10 bps is a basis adjustment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Reference asset, deduction basis and resulting liquidity spread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Credit deduction methodology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Do not import a CAD parameter into HKD / SGD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>
            <a:spLocks noGrp="1"/>
          </p:cNvSpPr>
          <p:nvPr/>
        </p:nvSpPr>
        <p:spPr>
          <a:xfrm>
            <a:off x="457200" y="5591175"/>
            <a:ext cx="11277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HSIC’s +10 bps benchmark adjustment must not be relabelled as the peer credit-risk deduction.</a:t>
            </a:r>
            <a:endParaRPr sz="1725" b="1">
              <a:solidFill>
                <a:srgbClr val="B8101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 7"/>
          <p:cNvSpPr>
            <a:spLocks noGrp="1"/>
          </p:cNvSpPr>
          <p:nvPr/>
        </p:nvSpPr>
        <p:spPr>
          <a:xfrm>
            <a:off x="457200" y="266700"/>
            <a:ext cx="112776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Calibration and update frequency</a:t>
            </a:r>
            <a:endParaRPr sz="3300" b="1">
              <a:solidFill>
                <a:srgbClr val="22222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457200" y="952500"/>
            <a:ext cx="11277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This subcomponent explains the differences in the HSBC study materials</a:t>
            </a:r>
            <a:endParaRPr sz="1650" b="0">
              <a:solidFill>
                <a:srgbClr val="555555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457200" y="6477000"/>
            <a:ext cx="11277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HSBC internal</a:t>
            </a:r>
            <a:endParaRPr sz="975" b="0">
              <a:solidFill>
                <a:srgbClr val="555555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graphicFrame>
        <p:nvGraphicFramePr>
          <p:cNvPr id="5" name="Table 4"/>
          <p:cNvGraphicFramePr/>
          <p:nvPr/>
        </p:nvGraphicFramePr>
        <p:xfrm>
          <a:off x="457200" y="1543050"/>
          <a:ext cx="11277600" cy="2952750"/>
        </p:xfrm>
        <a:graphic>
          <a:graphicData uri="http://schemas.openxmlformats.org/drawingml/2006/table">
            <a:tbl>
              <a:tblPr/>
              <a:tblGrid>
                <a:gridCol w="1809750"/>
                <a:gridCol w="3162300"/>
                <a:gridCol w="3152775"/>
                <a:gridCol w="3152775"/>
              </a:tblGrid>
              <a:tr h="4953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Calibration</a:t>
                      </a:r>
                      <a:endParaRPr sz="1575" b="1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T w="9525">
                      <a:solidFill>
                        <a:srgbClr val="D8DCDF"/>
                      </a:solidFill>
                      <a:prstDash val="solid"/>
                    </a:lnT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Hong Kong</a:t>
                      </a:r>
                      <a:endParaRPr sz="1575" b="1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T w="9525">
                      <a:solidFill>
                        <a:srgbClr val="D8DCDF"/>
                      </a:solidFill>
                      <a:prstDash val="solid"/>
                    </a:lnT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Singapore</a:t>
                      </a:r>
                      <a:endParaRPr sz="1575" b="1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T w="9525">
                      <a:solidFill>
                        <a:srgbClr val="D8DCDF"/>
                      </a:solidFill>
                      <a:prstDash val="solid"/>
                    </a:lnT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Canada</a:t>
                      </a:r>
                      <a:endParaRPr sz="1575" b="1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T w="9525">
                      <a:solidFill>
                        <a:srgbClr val="D8DCDF"/>
                      </a:solidFill>
                      <a:prstDash val="solid"/>
                    </a:lnT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222222"/>
                    </a:solidFill>
                  </a:tcPr>
                </a:tc>
              </a:tr>
              <a:tr h="12287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Market evidence</a:t>
                      </a:r>
                      <a:endParaRPr sz="157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Prudential: reporting-date reference spread and liquidity ratios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AIA: current reference yields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GE FY2025: observable ILP calculated each month-end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FY2023 survey is historical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CIA: dated reference methodology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Company calibration remains business-specific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</a:tr>
              <a:tr h="12287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HSBC evidence</a:t>
                      </a:r>
                      <a:endParaRPr sz="157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INHK: history + current market + outlook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3Y / 5Y / 10Y reviewed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HSIC: reinvestment aligned to ARF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INSP: public method confirmed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Internal averaging window / update rule not supplied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No evidence of a common market-wide 3Y / 5Y / 10Y window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>
            <a:spLocks noGrp="1"/>
          </p:cNvSpPr>
          <p:nvPr/>
        </p:nvSpPr>
        <p:spPr>
          <a:xfrm>
            <a:off x="457200" y="4695825"/>
            <a:ext cx="112776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1725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1725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1725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1725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1725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1725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1725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1725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1725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1725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725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INSH • China internal comparator: 3Y mean, annual true-up, after VAT / default.</a:t>
            </a:r>
            <a:endParaRPr sz="1725" b="1">
              <a:solidFill>
                <a:srgbClr val="22222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>
              <a:defRPr sz="1725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725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30 Jun 2026: spot 18 bps | 10Y P10 21 bps | 3Y mean 23 bps.</a:t>
            </a:r>
            <a:endParaRPr sz="1725" b="1">
              <a:solidFill>
                <a:srgbClr val="22222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457200" y="5591175"/>
            <a:ext cx="11277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Separate reporting-date ILP calibration from the review of long-term reinvestment spread assumptions.</a:t>
            </a:r>
            <a:endParaRPr sz="1725" b="1">
              <a:solidFill>
                <a:srgbClr val="B8101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 6"/>
          <p:cNvSpPr>
            <a:spLocks noGrp="1"/>
          </p:cNvSpPr>
          <p:nvPr/>
        </p:nvSpPr>
        <p:spPr>
          <a:xfrm>
            <a:off x="457200" y="266700"/>
            <a:ext cx="112776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Lapse</a:t>
            </a:r>
            <a:endParaRPr sz="3300" b="1">
              <a:solidFill>
                <a:srgbClr val="22222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457200" y="952500"/>
            <a:ext cx="11277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Best-estimate experience, liquidity features and sensitivity are distinct</a:t>
            </a:r>
            <a:endParaRPr sz="1650" b="0">
              <a:solidFill>
                <a:srgbClr val="555555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457200" y="6477000"/>
            <a:ext cx="11277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HSBC internal</a:t>
            </a:r>
            <a:endParaRPr sz="975" b="0">
              <a:solidFill>
                <a:srgbClr val="555555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graphicFrame>
        <p:nvGraphicFramePr>
          <p:cNvPr id="5" name="Table 4"/>
          <p:cNvGraphicFramePr/>
          <p:nvPr/>
        </p:nvGraphicFramePr>
        <p:xfrm>
          <a:off x="457200" y="1543050"/>
          <a:ext cx="11277600" cy="3810000"/>
        </p:xfrm>
        <a:graphic>
          <a:graphicData uri="http://schemas.openxmlformats.org/drawingml/2006/table">
            <a:tbl>
              <a:tblPr/>
              <a:tblGrid>
                <a:gridCol w="1809750"/>
                <a:gridCol w="3162300"/>
                <a:gridCol w="3152775"/>
                <a:gridCol w="3152775"/>
              </a:tblGrid>
              <a:tr h="4953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Lapse</a:t>
                      </a:r>
                      <a:endParaRPr sz="1575" b="1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T w="9525">
                      <a:solidFill>
                        <a:srgbClr val="D8DCDF"/>
                      </a:solidFill>
                      <a:prstDash val="solid"/>
                    </a:lnT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Hong Kong</a:t>
                      </a:r>
                      <a:endParaRPr sz="1575" b="1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T w="9525">
                      <a:solidFill>
                        <a:srgbClr val="D8DCDF"/>
                      </a:solidFill>
                      <a:prstDash val="solid"/>
                    </a:lnT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Singapore</a:t>
                      </a:r>
                      <a:endParaRPr sz="1575" b="1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T w="9525">
                      <a:solidFill>
                        <a:srgbClr val="D8DCDF"/>
                      </a:solidFill>
                      <a:prstDash val="solid"/>
                    </a:lnT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Canada</a:t>
                      </a:r>
                      <a:endParaRPr sz="1575" b="1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T w="9525">
                      <a:solidFill>
                        <a:srgbClr val="D8DCDF"/>
                      </a:solidFill>
                      <a:prstDash val="solid"/>
                    </a:lnT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222222"/>
                    </a:solidFill>
                  </a:tcPr>
                </a:tc>
              </a:tr>
              <a:tr h="11049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Market approach</a:t>
                      </a:r>
                      <a:endParaRPr sz="157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Prudential: best-estimate decrements; surrender features inform liquidity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AIA: sensitivity disclosed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GE: credible own experience by product / policy year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HSBC SG: ±10% lapse sensitivity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Sun Life: generally 5Y own experience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Manulife: recent experience with forward adjustments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</a:tr>
              <a:tr h="11049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HSBC data / gap</a:t>
                      </a:r>
                      <a:endParaRPr sz="157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HSIC / INHK photos do not provide a lapse-calibration table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HSBC SG 2025 participating: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+10% lapse → net CSM −S$42.518m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−10% → +S$45.935m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No common market lapse rate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Study window is not a lapse stress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049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Benchmark implication</a:t>
                      </a:r>
                      <a:endParaRPr sz="157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Assess liquidity features separately from RA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Sensitivity does not identify the underlying lapse rate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Product and policy-year segmentation matters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>
            <a:spLocks noGrp="1"/>
          </p:cNvSpPr>
          <p:nvPr/>
        </p:nvSpPr>
        <p:spPr>
          <a:xfrm>
            <a:off x="457200" y="5591175"/>
            <a:ext cx="11277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HSBC internal lapse tables are still needed to benchmark experience windows and product segmentation.</a:t>
            </a:r>
            <a:endParaRPr sz="1725" b="1">
              <a:solidFill>
                <a:srgbClr val="B8101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 6"/>
          <p:cNvSpPr>
            <a:spLocks noGrp="1"/>
          </p:cNvSpPr>
          <p:nvPr/>
        </p:nvSpPr>
        <p:spPr>
          <a:xfrm>
            <a:off x="457200" y="266700"/>
            <a:ext cx="112776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30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Risk Adjustment</a:t>
            </a:r>
            <a:endParaRPr sz="3300" b="1">
              <a:solidFill>
                <a:srgbClr val="22222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457200" y="952500"/>
            <a:ext cx="11277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Compare method and time horizon; RA is separate from ILP</a:t>
            </a:r>
            <a:endParaRPr sz="1650" b="0">
              <a:solidFill>
                <a:srgbClr val="555555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457200" y="6477000"/>
            <a:ext cx="11277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HSBC internal</a:t>
            </a:r>
            <a:endParaRPr sz="975" b="0">
              <a:solidFill>
                <a:srgbClr val="555555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graphicFrame>
        <p:nvGraphicFramePr>
          <p:cNvPr id="5" name="Table 4"/>
          <p:cNvGraphicFramePr/>
          <p:nvPr/>
        </p:nvGraphicFramePr>
        <p:xfrm>
          <a:off x="457200" y="1543050"/>
          <a:ext cx="11277600" cy="3810000"/>
        </p:xfrm>
        <a:graphic>
          <a:graphicData uri="http://schemas.openxmlformats.org/drawingml/2006/table">
            <a:tbl>
              <a:tblPr/>
              <a:tblGrid>
                <a:gridCol w="1809750"/>
                <a:gridCol w="3162300"/>
                <a:gridCol w="3152775"/>
                <a:gridCol w="3152775"/>
              </a:tblGrid>
              <a:tr h="4953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RA component</a:t>
                      </a:r>
                      <a:endParaRPr sz="1575" b="1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T w="9525">
                      <a:solidFill>
                        <a:srgbClr val="D8DCDF"/>
                      </a:solidFill>
                      <a:prstDash val="solid"/>
                    </a:lnT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Hong Kong</a:t>
                      </a:r>
                      <a:endParaRPr sz="1575" b="1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T w="9525">
                      <a:solidFill>
                        <a:srgbClr val="D8DCDF"/>
                      </a:solidFill>
                      <a:prstDash val="solid"/>
                    </a:lnT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Singapore</a:t>
                      </a:r>
                      <a:endParaRPr sz="1575" b="1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T w="9525">
                      <a:solidFill>
                        <a:srgbClr val="D8DCDF"/>
                      </a:solidFill>
                      <a:prstDash val="solid"/>
                    </a:lnT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Canada</a:t>
                      </a:r>
                      <a:endParaRPr sz="1575" b="1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T w="9525">
                      <a:solidFill>
                        <a:srgbClr val="D8DCDF"/>
                      </a:solidFill>
                      <a:prstDash val="solid"/>
                    </a:lnT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222222"/>
                    </a:solidFill>
                  </a:tcPr>
                </a:tc>
              </a:tr>
              <a:tr h="11049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HSBC / peer levels</a:t>
                      </a:r>
                      <a:endParaRPr sz="157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HSBC: 75th, one year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Prudential: 75th, one year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AIA: 75th, by segment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HSBC SG: 75th, one year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GE: 85th percentile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Historical sample: 75th–90th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Manulife: 90–95%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Sun Life: approx. 85–90%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Canada Life: Lifeco 85–90%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All use margin-based methods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</a:tr>
              <a:tr h="11049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Key qualification</a:t>
                      </a:r>
                      <a:endParaRPr sz="157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HSBC main HK entity: 75th one-year corresponds to 59th ultimate (2025)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Check horizon, diversification and reinsurance before comparing percentiles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Margin method ≠ confidence level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Sun Life assumption margins: generally 5–20%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049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Internal evidence boundary</a:t>
                      </a:r>
                      <a:endParaRPr sz="157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Group policy supports the baseline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Local HSBC SG report supports local policy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Do not assign a group percentile to every entity without confirmation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>
            <a:spLocks noGrp="1"/>
          </p:cNvSpPr>
          <p:nvPr/>
        </p:nvSpPr>
        <p:spPr>
          <a:xfrm>
            <a:off x="457200" y="5591175"/>
            <a:ext cx="11277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725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HSBC’s 75th one-year / 59th ultimate example shows why raw percentile rankings can mislead.</a:t>
            </a:r>
            <a:endParaRPr sz="1725" b="1">
              <a:solidFill>
                <a:srgbClr val="B8101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>
            <a:spLocks noGrp="1"/>
          </p:cNvSpPr>
          <p:nvPr/>
        </p:nvSpPr>
        <p:spPr>
          <a:xfrm>
            <a:off x="457200" y="266700"/>
            <a:ext cx="112776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Appendix A  HSBC reinvestment spread data</a:t>
            </a:r>
            <a:endParaRPr sz="2850" b="1">
              <a:solidFill>
                <a:srgbClr val="22222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457200" y="952500"/>
            <a:ext cx="11277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Internal historical averages and assumptions | bps</a:t>
            </a:r>
            <a:endParaRPr sz="1650" b="0">
              <a:solidFill>
                <a:srgbClr val="555555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457200" y="6477000"/>
            <a:ext cx="11277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HSBC internal</a:t>
            </a:r>
            <a:endParaRPr sz="975" b="0">
              <a:solidFill>
                <a:srgbClr val="555555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graphicFrame>
        <p:nvGraphicFramePr>
          <p:cNvPr id="5" name="Table 4"/>
          <p:cNvGraphicFramePr/>
          <p:nvPr/>
        </p:nvGraphicFramePr>
        <p:xfrm>
          <a:off x="457200" y="1543050"/>
          <a:ext cx="11277600" cy="4286253"/>
        </p:xfrm>
        <a:graphic>
          <a:graphicData uri="http://schemas.openxmlformats.org/drawingml/2006/table">
            <a:tbl>
              <a:tblPr/>
              <a:tblGrid>
                <a:gridCol w="3333750"/>
                <a:gridCol w="1981200"/>
                <a:gridCol w="1981200"/>
                <a:gridCol w="1981200"/>
                <a:gridCol w="2000250"/>
              </a:tblGrid>
              <a:tr h="4953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Entity / asset</a:t>
                      </a:r>
                      <a:endParaRPr sz="1575" b="1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T w="9525">
                      <a:solidFill>
                        <a:srgbClr val="D8DCDF"/>
                      </a:solidFill>
                      <a:prstDash val="solid"/>
                    </a:lnT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3Y average</a:t>
                      </a:r>
                      <a:endParaRPr sz="1575" b="1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T w="9525">
                      <a:solidFill>
                        <a:srgbClr val="D8DCDF"/>
                      </a:solidFill>
                      <a:prstDash val="solid"/>
                    </a:lnT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5Y average</a:t>
                      </a:r>
                      <a:endParaRPr sz="1575" b="1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T w="9525">
                      <a:solidFill>
                        <a:srgbClr val="D8DCDF"/>
                      </a:solidFill>
                      <a:prstDash val="solid"/>
                    </a:lnT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10Y average</a:t>
                      </a:r>
                      <a:endParaRPr sz="1575" b="1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T w="9525">
                      <a:solidFill>
                        <a:srgbClr val="D8DCDF"/>
                      </a:solidFill>
                      <a:prstDash val="solid"/>
                    </a:lnT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Assumption</a:t>
                      </a:r>
                      <a:endParaRPr sz="1575" b="1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T w="9525">
                      <a:solidFill>
                        <a:srgbClr val="D8DCDF"/>
                      </a:solidFill>
                      <a:prstDash val="solid"/>
                    </a:lnT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222222"/>
                    </a:solidFill>
                  </a:tcPr>
                </a:tc>
              </a:tr>
              <a:tr h="421217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HSIC HKD10Y</a:t>
                      </a:r>
                      <a:endParaRPr sz="157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80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103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109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105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</a:tr>
              <a:tr h="421217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HSIC USD10Y</a:t>
                      </a:r>
                      <a:endParaRPr sz="157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79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81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108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100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1217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HSIC USD30Y</a:t>
                      </a:r>
                      <a:endParaRPr sz="157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83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98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117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110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</a:tr>
              <a:tr h="421217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HSIC CNY10Y</a:t>
                      </a:r>
                      <a:endParaRPr sz="157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97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77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79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70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1217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HSIC Infra debt</a:t>
                      </a:r>
                      <a:endParaRPr sz="157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205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179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209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190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</a:tr>
              <a:tr h="421217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INHK HKD10Y</a:t>
                      </a:r>
                      <a:endParaRPr sz="157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81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92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100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100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1217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INHK USD5Y</a:t>
                      </a:r>
                      <a:endParaRPr sz="157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84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70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69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65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</a:tr>
              <a:tr h="421217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INHK USD10Y</a:t>
                      </a:r>
                      <a:endParaRPr sz="157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81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96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121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100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1217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INHK USD30Y</a:t>
                      </a:r>
                      <a:endParaRPr sz="157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78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92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110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105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>
            <a:spLocks noGrp="1"/>
          </p:cNvSpPr>
          <p:nvPr/>
        </p:nvSpPr>
        <p:spPr>
          <a:xfrm>
            <a:off x="457200" y="266700"/>
            <a:ext cx="112776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Appendix B  HSIC applied ILP</a:t>
            </a:r>
            <a:endParaRPr sz="2850" b="1">
              <a:solidFill>
                <a:srgbClr val="22222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457200" y="952500"/>
            <a:ext cx="11277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Current and proposed values by displayed business label | bps</a:t>
            </a:r>
            <a:endParaRPr sz="1650" b="0">
              <a:solidFill>
                <a:srgbClr val="555555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457200" y="6477000"/>
            <a:ext cx="11277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HSBC internal</a:t>
            </a:r>
            <a:endParaRPr sz="975" b="0">
              <a:solidFill>
                <a:srgbClr val="555555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graphicFrame>
        <p:nvGraphicFramePr>
          <p:cNvPr id="5" name="Chart"/>
          <p:cNvGraphicFramePr/>
          <p:nvPr/>
        </p:nvGraphicFramePr>
        <p:xfrm>
          <a:off x="457200" y="1600200"/>
          <a:ext cx="11277600" cy="409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>
            <a:spLocks noGrp="1"/>
          </p:cNvSpPr>
          <p:nvPr/>
        </p:nvSpPr>
        <p:spPr>
          <a:xfrm>
            <a:off x="457200" y="266700"/>
            <a:ext cx="112776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Appendix C  Published HSBC discount curves</a:t>
            </a:r>
            <a:endParaRPr sz="2850" b="1">
              <a:solidFill>
                <a:srgbClr val="22222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457200" y="952500"/>
            <a:ext cx="11277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31 December 2025 | total discount rates, including liquidity</a:t>
            </a:r>
            <a:endParaRPr sz="1650" b="0">
              <a:solidFill>
                <a:srgbClr val="555555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457200" y="6477000"/>
            <a:ext cx="11277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HSBC internal</a:t>
            </a:r>
            <a:endParaRPr sz="975" b="0">
              <a:solidFill>
                <a:srgbClr val="555555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graphicFrame>
        <p:nvGraphicFramePr>
          <p:cNvPr id="5" name="Table 4"/>
          <p:cNvGraphicFramePr/>
          <p:nvPr/>
        </p:nvGraphicFramePr>
        <p:xfrm>
          <a:off x="457200" y="1543050"/>
          <a:ext cx="11277600" cy="4286250"/>
        </p:xfrm>
        <a:graphic>
          <a:graphicData uri="http://schemas.openxmlformats.org/drawingml/2006/table">
            <a:tbl>
              <a:tblPr/>
              <a:tblGrid>
                <a:gridCol w="3657600"/>
                <a:gridCol w="1524000"/>
                <a:gridCol w="1524000"/>
                <a:gridCol w="1524000"/>
                <a:gridCol w="1524000"/>
                <a:gridCol w="1524000"/>
              </a:tblGrid>
              <a:tr h="4953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Entity / currency</a:t>
                      </a:r>
                      <a:endParaRPr sz="1575" b="1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T w="9525">
                      <a:solidFill>
                        <a:srgbClr val="D8DCDF"/>
                      </a:solidFill>
                      <a:prstDash val="solid"/>
                    </a:lnT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1Y</a:t>
                      </a:r>
                      <a:endParaRPr sz="1575" b="1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T w="9525">
                      <a:solidFill>
                        <a:srgbClr val="D8DCDF"/>
                      </a:solidFill>
                      <a:prstDash val="solid"/>
                    </a:lnT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5Y</a:t>
                      </a:r>
                      <a:endParaRPr sz="1575" b="1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T w="9525">
                      <a:solidFill>
                        <a:srgbClr val="D8DCDF"/>
                      </a:solidFill>
                      <a:prstDash val="solid"/>
                    </a:lnT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10Y</a:t>
                      </a:r>
                      <a:endParaRPr sz="1575" b="1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T w="9525">
                      <a:solidFill>
                        <a:srgbClr val="D8DCDF"/>
                      </a:solidFill>
                      <a:prstDash val="solid"/>
                    </a:lnT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15Y</a:t>
                      </a:r>
                      <a:endParaRPr sz="1575" b="1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T w="9525">
                      <a:solidFill>
                        <a:srgbClr val="D8DCDF"/>
                      </a:solidFill>
                      <a:prstDash val="solid"/>
                    </a:lnT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20Y</a:t>
                      </a:r>
                      <a:endParaRPr sz="1575" b="1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T w="9525">
                      <a:solidFill>
                        <a:srgbClr val="D8DCDF"/>
                      </a:solidFill>
                      <a:prstDash val="solid"/>
                    </a:lnT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222222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HSBC Life Int’l HKD</a:t>
                      </a:r>
                      <a:endParaRPr sz="157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—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—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3.74%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—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4.09%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HSIC HKD</a:t>
                      </a:r>
                      <a:endParaRPr sz="157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—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—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3.85%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—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4.20%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HSBC Life Int’l USD</a:t>
                      </a:r>
                      <a:endParaRPr sz="157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—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—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4.78%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—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5.54%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HSIC USD</a:t>
                      </a:r>
                      <a:endParaRPr sz="157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—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—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4.82%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—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5.59%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HSBC Life SG SGD</a:t>
                      </a:r>
                      <a:endParaRPr sz="157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1.72%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2.20%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2.46%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2.54%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2.73%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HSBC Life SG USD</a:t>
                      </a:r>
                      <a:endParaRPr sz="157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4.12%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4.37%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4.87%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5.34%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5.64%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Rectangle 8"/>
          <p:cNvSpPr>
            <a:spLocks noGrp="1"/>
          </p:cNvSpPr>
          <p:nvPr/>
        </p:nvSpPr>
        <p:spPr>
          <a:xfrm>
            <a:off x="457200" y="266700"/>
            <a:ext cx="112776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Appendix D  SGD peer curves</a:t>
            </a:r>
            <a:endParaRPr sz="2850" b="1">
              <a:solidFill>
                <a:srgbClr val="22222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457200" y="952500"/>
            <a:ext cx="11277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31 December 2025 | total discount rates | supports the approach comparison</a:t>
            </a:r>
            <a:endParaRPr sz="1650" b="0">
              <a:solidFill>
                <a:srgbClr val="555555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457200" y="6477000"/>
            <a:ext cx="11277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HSBC internal</a:t>
            </a:r>
            <a:endParaRPr sz="975" b="0">
              <a:solidFill>
                <a:srgbClr val="555555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graphicFrame>
        <p:nvGraphicFramePr>
          <p:cNvPr id="5" name="Chart"/>
          <p:cNvGraphicFramePr/>
          <p:nvPr/>
        </p:nvGraphicFramePr>
        <p:xfrm>
          <a:off x="457200" y="1619250"/>
          <a:ext cx="74295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Rectangle 5"/>
          <p:cNvSpPr>
            <a:spLocks noGrp="1"/>
          </p:cNvSpPr>
          <p:nvPr/>
        </p:nvSpPr>
        <p:spPr>
          <a:xfrm>
            <a:off x="8191500" y="1695450"/>
            <a:ext cx="35433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1875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1875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1875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1875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1875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1875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1875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1875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1875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1875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75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Prudential Group SGD</a:t>
            </a:r>
            <a:endParaRPr sz="1875" b="1">
              <a:solidFill>
                <a:srgbClr val="22222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graphicFrame>
        <p:nvGraphicFramePr>
          <p:cNvPr id="7" name="Table 6"/>
          <p:cNvGraphicFramePr/>
          <p:nvPr/>
        </p:nvGraphicFramePr>
        <p:xfrm>
          <a:off x="8191500" y="2209800"/>
          <a:ext cx="3543300" cy="2952750"/>
        </p:xfrm>
        <a:graphic>
          <a:graphicData uri="http://schemas.openxmlformats.org/drawingml/2006/table">
            <a:tbl>
              <a:tblPr/>
              <a:tblGrid>
                <a:gridCol w="1143000"/>
                <a:gridCol w="2400300"/>
              </a:tblGrid>
              <a:tr h="4953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Tenor</a:t>
                      </a:r>
                      <a:endParaRPr sz="1650" b="1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T w="9525">
                      <a:solidFill>
                        <a:srgbClr val="D8DCDF"/>
                      </a:solidFill>
                      <a:prstDash val="solid"/>
                    </a:lnT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Total range %</a:t>
                      </a:r>
                      <a:endParaRPr sz="1650" b="1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T w="9525">
                      <a:solidFill>
                        <a:srgbClr val="D8DCDF"/>
                      </a:solidFill>
                      <a:prstDash val="solid"/>
                    </a:lnT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22222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1Y</a:t>
                      </a:r>
                      <a:endParaRPr sz="1650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1.42–1.71</a:t>
                      </a:r>
                      <a:endParaRPr sz="1650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5Y</a:t>
                      </a:r>
                      <a:endParaRPr sz="1650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1.91–2.34</a:t>
                      </a:r>
                      <a:endParaRPr sz="1650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10Y</a:t>
                      </a:r>
                      <a:endParaRPr sz="1650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2.18–2.48</a:t>
                      </a:r>
                      <a:endParaRPr sz="1650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15Y</a:t>
                      </a:r>
                      <a:endParaRPr sz="1650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2.26–2.63</a:t>
                      </a:r>
                      <a:endParaRPr sz="1650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20Y</a:t>
                      </a:r>
                      <a:endParaRPr sz="1650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2.23–2.82</a:t>
                      </a:r>
                      <a:endParaRPr sz="1650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>
            <a:spLocks noGrp="1"/>
          </p:cNvSpPr>
          <p:nvPr/>
        </p:nvSpPr>
        <p:spPr>
          <a:xfrm>
            <a:off x="8191500" y="5334000"/>
            <a:ext cx="35433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1650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1650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1650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1650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1650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1650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1650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1650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1650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1650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Rates include liquidity;</a:t>
            </a:r>
            <a:endParaRPr sz="1650" b="1">
              <a:solidFill>
                <a:srgbClr val="B8101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>
              <a:defRPr sz="1650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1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not an ILP ranking.</a:t>
            </a:r>
            <a:endParaRPr sz="1650" b="1">
              <a:solidFill>
                <a:srgbClr val="B8101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>
            <a:spLocks noGrp="1"/>
          </p:cNvSpPr>
          <p:nvPr/>
        </p:nvSpPr>
        <p:spPr>
          <a:xfrm>
            <a:off x="457200" y="266700"/>
            <a:ext cx="112776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Appendix E  Canadian reference methodology</a:t>
            </a:r>
            <a:endParaRPr sz="2850" b="1">
              <a:solidFill>
                <a:srgbClr val="22222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457200" y="952500"/>
            <a:ext cx="11277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CIA parameters effective 15 October 2025 | professional reference, not a universal insurer tariff</a:t>
            </a:r>
            <a:endParaRPr sz="1650" b="0">
              <a:solidFill>
                <a:srgbClr val="555555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457200" y="6477000"/>
            <a:ext cx="11277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HSBC internal</a:t>
            </a:r>
            <a:endParaRPr sz="975" b="0">
              <a:solidFill>
                <a:srgbClr val="555555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graphicFrame>
        <p:nvGraphicFramePr>
          <p:cNvPr id="5" name="Table 4"/>
          <p:cNvGraphicFramePr/>
          <p:nvPr/>
        </p:nvGraphicFramePr>
        <p:xfrm>
          <a:off x="457200" y="1543050"/>
          <a:ext cx="11277600" cy="4286250"/>
        </p:xfrm>
        <a:graphic>
          <a:graphicData uri="http://schemas.openxmlformats.org/drawingml/2006/table">
            <a:tbl>
              <a:tblPr/>
              <a:tblGrid>
                <a:gridCol w="2333625"/>
                <a:gridCol w="3810000"/>
                <a:gridCol w="5133975"/>
              </a:tblGrid>
              <a:tr h="4953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Element</a:t>
                      </a:r>
                      <a:endParaRPr sz="1575" b="1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T w="9525">
                      <a:solidFill>
                        <a:srgbClr val="D8DCDF"/>
                      </a:solidFill>
                      <a:prstDash val="solid"/>
                    </a:lnT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CIA reference</a:t>
                      </a:r>
                      <a:endParaRPr sz="1575" b="1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T w="9525">
                      <a:solidFill>
                        <a:srgbClr val="D8DCDF"/>
                      </a:solidFill>
                      <a:prstDash val="solid"/>
                    </a:lnT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How to use in HSBC comparison</a:t>
                      </a:r>
                      <a:endParaRPr sz="1575" b="1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T w="9525">
                      <a:solidFill>
                        <a:srgbClr val="D8DCDF"/>
                      </a:solidFill>
                      <a:prstDash val="solid"/>
                    </a:lnT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222222"/>
                    </a:solidFill>
                  </a:tcPr>
                </a:tc>
              </a:tr>
              <a:tr h="75819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Liquid</a:t>
                      </a:r>
                      <a:endParaRPr sz="157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90% × provincial bond spread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Asset-spread benchmark linked to liquidity classification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</a:tr>
              <a:tr h="75819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Illiquid</a:t>
                      </a:r>
                      <a:endParaRPr sz="157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50 bps + X × Canadian IG bond spread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X: 80% (1–3Y), 75% (4Y), 70% (5Y+)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819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Long end</a:t>
                      </a:r>
                      <a:endParaRPr sz="157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Observable 30Y; ultimate 70Y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Ultimate RF 3.65%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Curve tenor differs from an experience-study window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</a:tr>
              <a:tr h="75819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Ultimate liquidity</a:t>
                      </a:r>
                      <a:endParaRPr sz="157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Liquid 70 bps; illiquid 150 bps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CAD reference parameters; do not transplant into HKD / SGD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819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Actual insurer data</a:t>
                      </a:r>
                      <a:endParaRPr sz="157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Manulife CAD10Y 4.94% / 4.85%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Sun Life CAD10Y 4.52%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Total rates; different liquidity / portfolio bases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>
            <a:spLocks noGrp="1"/>
          </p:cNvSpPr>
          <p:nvPr/>
        </p:nvSpPr>
        <p:spPr>
          <a:xfrm>
            <a:off x="457200" y="266700"/>
            <a:ext cx="112776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Appendix F  Singapore historical sample</a:t>
            </a:r>
            <a:endParaRPr sz="2850" b="1">
              <a:solidFill>
                <a:srgbClr val="22222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457200" y="952500"/>
            <a:ext cx="11277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PwC review of FY2023 statements, published November 2024</a:t>
            </a:r>
            <a:endParaRPr sz="1650" b="0">
              <a:solidFill>
                <a:srgbClr val="555555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457200" y="6477000"/>
            <a:ext cx="11277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HSBC internal</a:t>
            </a:r>
            <a:endParaRPr sz="975" b="0">
              <a:solidFill>
                <a:srgbClr val="555555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graphicFrame>
        <p:nvGraphicFramePr>
          <p:cNvPr id="5" name="Table 4"/>
          <p:cNvGraphicFramePr/>
          <p:nvPr/>
        </p:nvGraphicFramePr>
        <p:xfrm>
          <a:off x="457200" y="1543050"/>
          <a:ext cx="11277600" cy="4286252"/>
        </p:xfrm>
        <a:graphic>
          <a:graphicData uri="http://schemas.openxmlformats.org/drawingml/2006/table">
            <a:tbl>
              <a:tblPr/>
              <a:tblGrid>
                <a:gridCol w="2667000"/>
                <a:gridCol w="2286000"/>
                <a:gridCol w="4095750"/>
                <a:gridCol w="2228850"/>
              </a:tblGrid>
              <a:tr h="4953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Insurer</a:t>
                      </a:r>
                      <a:endParaRPr sz="1575" b="1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T w="9525">
                      <a:solidFill>
                        <a:srgbClr val="D8DCDF"/>
                      </a:solidFill>
                      <a:prstDash val="solid"/>
                    </a:lnT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Discount approach</a:t>
                      </a:r>
                      <a:endParaRPr sz="1575" b="1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T w="9525">
                      <a:solidFill>
                        <a:srgbClr val="D8DCDF"/>
                      </a:solidFill>
                      <a:prstDash val="solid"/>
                    </a:lnT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RA</a:t>
                      </a:r>
                      <a:endParaRPr sz="1575" b="1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T w="9525">
                      <a:solidFill>
                        <a:srgbClr val="D8DCDF"/>
                      </a:solidFill>
                      <a:prstDash val="solid"/>
                    </a:lnT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Lapse shock</a:t>
                      </a:r>
                      <a:endParaRPr sz="1575" b="1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T w="9525">
                      <a:solidFill>
                        <a:srgbClr val="D8DCDF"/>
                      </a:solidFill>
                      <a:prstDash val="solid"/>
                    </a:lnT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222222"/>
                    </a:solidFill>
                  </a:tcPr>
                </a:tc>
              </a:tr>
              <a:tr h="473869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AIA</a:t>
                      </a:r>
                      <a:endParaRPr sz="157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TD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75th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±10%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</a:tr>
              <a:tr h="473869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HSBC Life</a:t>
                      </a:r>
                      <a:endParaRPr sz="157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BU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75th, one year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±10%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3869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China Taiping</a:t>
                      </a:r>
                      <a:endParaRPr sz="157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BU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75th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±10%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</a:tr>
              <a:tr h="473869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Etiqa</a:t>
                      </a:r>
                      <a:endParaRPr sz="157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BU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90th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+10% adverse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3869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Great Eastern Life</a:t>
                      </a:r>
                      <a:endParaRPr sz="157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BU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85th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±25%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</a:tr>
              <a:tr h="473869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Manulife</a:t>
                      </a:r>
                      <a:endParaRPr sz="157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BU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Margin; CL not disclosed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+10%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3869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Prudential</a:t>
                      </a:r>
                      <a:endParaRPr sz="157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BU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75th, one year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±10%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</a:tr>
              <a:tr h="473869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Singlife</a:t>
                      </a:r>
                      <a:endParaRPr sz="157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Not disclosed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Life80th; specified other75th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±10%</a:t>
                      </a:r>
                      <a:endParaRPr sz="157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Rectangle 15"/>
          <p:cNvSpPr>
            <a:spLocks noGrp="1"/>
          </p:cNvSpPr>
          <p:nvPr/>
        </p:nvSpPr>
        <p:spPr>
          <a:xfrm>
            <a:off x="457200" y="266700"/>
            <a:ext cx="112776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850" b="1">
                <a:solidFill>
                  <a:srgbClr val="22222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Appendix G  Public source register</a:t>
            </a:r>
            <a:endParaRPr sz="2850" b="1">
              <a:solidFill>
                <a:srgbClr val="22222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457200" y="952500"/>
            <a:ext cx="11277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Original source links and exact page locators</a:t>
            </a:r>
            <a:endParaRPr sz="1650" b="0">
              <a:solidFill>
                <a:srgbClr val="555555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457200" y="6477000"/>
            <a:ext cx="11277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0">
                <a:solidFill>
                  <a:srgbClr val="55555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HSBC internal</a:t>
            </a:r>
            <a:endParaRPr sz="975" b="0">
              <a:solidFill>
                <a:srgbClr val="555555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graphicFrame>
        <p:nvGraphicFramePr>
          <p:cNvPr id="5" name="Table 4"/>
          <p:cNvGraphicFramePr/>
          <p:nvPr/>
        </p:nvGraphicFramePr>
        <p:xfrm>
          <a:off x="457200" y="1476375"/>
          <a:ext cx="9620250" cy="4438650"/>
        </p:xfrm>
        <a:graphic>
          <a:graphicData uri="http://schemas.openxmlformats.org/drawingml/2006/table">
            <a:tbl>
              <a:tblPr/>
              <a:tblGrid>
                <a:gridCol w="4000500"/>
                <a:gridCol w="5619750"/>
              </a:tblGrid>
              <a:tr h="4953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ID / source</a:t>
                      </a:r>
                      <a:endParaRPr sz="1425" b="1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T w="9525">
                      <a:solidFill>
                        <a:srgbClr val="D8DCDF"/>
                      </a:solidFill>
                      <a:prstDash val="solid"/>
                    </a:lnT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Exact locator</a:t>
                      </a:r>
                      <a:endParaRPr sz="1425" b="1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T w="9525">
                      <a:solidFill>
                        <a:srgbClr val="D8DCDF"/>
                      </a:solidFill>
                      <a:prstDash val="solid"/>
                    </a:lnT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222222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H1  HSBC Group 2025</a:t>
                      </a:r>
                      <a:endParaRPr sz="142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Note4: discount rates / RA</a:t>
                      </a:r>
                      <a:endParaRPr sz="142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H2  HSBC Life SG 2025</a:t>
                      </a:r>
                      <a:endParaRPr sz="142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p.17,37–38,47–48 (PDF same)</a:t>
                      </a:r>
                      <a:endParaRPr sz="142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A1  AIA Group 2025</a:t>
                      </a:r>
                      <a:endParaRPr sz="142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p.173–174 / PDF179–180</a:t>
                      </a:r>
                      <a:endParaRPr sz="142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A2  GEH 2025</a:t>
                      </a:r>
                      <a:endParaRPr sz="142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p.138–139 / PDF140–141</a:t>
                      </a:r>
                      <a:endParaRPr sz="142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A3  Manulife 2025</a:t>
                      </a:r>
                      <a:endParaRPr sz="142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p.216–218 / PDF218–220</a:t>
                      </a:r>
                      <a:endParaRPr sz="142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A4  Sun Life 2025</a:t>
                      </a:r>
                      <a:endParaRPr sz="142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financial p.69–70 / PDF194–195</a:t>
                      </a:r>
                      <a:endParaRPr sz="142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A5  CIA 225094e</a:t>
                      </a:r>
                      <a:endParaRPr sz="142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p.35–40; parameter table p.36</a:t>
                      </a:r>
                      <a:endParaRPr sz="142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W1  PwC Nov2024</a:t>
                      </a:r>
                      <a:endParaRPr sz="142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FY2023 survey pp.10–12</a:t>
                      </a:r>
                      <a:endParaRPr sz="142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W2  Canada Life 2025</a:t>
                      </a:r>
                      <a:endParaRPr sz="142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p.13,23–24 / PDF15,25–26</a:t>
                      </a:r>
                      <a:endParaRPr sz="142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1F3F4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W3  Prudential Group 2025</a:t>
                      </a:r>
                      <a:endParaRPr sz="1425" b="1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L w="9525">
                      <a:solidFill>
                        <a:srgbClr val="D8DCDF"/>
                      </a:solidFill>
                      <a:prstDash val="solid"/>
                    </a:lnL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22222"/>
                          </a:solidFill>
                          <a:latin typeface="Helvetica Neue" panose="02000503000000020004"/>
                          <a:ea typeface="Helvetica Neue" panose="02000503000000020004"/>
                          <a:cs typeface="Helvetica Neue" panose="02000503000000020004"/>
                        </a:rPr>
                        <a:t>SEC NoteA3: discount rates / RA</a:t>
                      </a:r>
                      <a:endParaRPr sz="1425" b="0">
                        <a:solidFill>
                          <a:srgbClr val="222222"/>
                        </a:solidFill>
                        <a:latin typeface="Helvetica Neue" panose="02000503000000020004"/>
                        <a:ea typeface="Helvetica Neue" panose="02000503000000020004"/>
                        <a:cs typeface="Helvetica Neue" panose="02000503000000020004"/>
                      </a:endParaRPr>
                    </a:p>
                  </a:txBody>
                  <a:tcPr marL="114300" marR="95250" marT="76200" marB="76200" anchor="ctr">
                    <a:lnR w="9525">
                      <a:solidFill>
                        <a:srgbClr val="D8DCDF"/>
                      </a:solidFill>
                      <a:prstDash val="solid"/>
                    </a:lnR>
                    <a:lnB w="9525">
                      <a:solidFill>
                        <a:srgbClr val="D8DC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>
            <a:spLocks noGrp="1"/>
          </p:cNvSpPr>
          <p:nvPr/>
        </p:nvSpPr>
        <p:spPr>
          <a:xfrm>
            <a:off x="10287000" y="2047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hlinkClick r:id="rId1"/>
              </a:rPr>
              <a:t>Open original</a:t>
            </a:r>
            <a:endParaRPr sz="1350" b="0">
              <a:solidFill>
                <a:srgbClr val="B8101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hlinkClick r:id="rId1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0287000" y="244221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hlinkClick r:id="rId2"/>
              </a:rPr>
              <a:t>Open original</a:t>
            </a:r>
            <a:endParaRPr sz="1350" b="0">
              <a:solidFill>
                <a:srgbClr val="B8101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hlinkClick r:id="rId2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10287000" y="283654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hlinkClick r:id="rId3"/>
              </a:rPr>
              <a:t>Open original</a:t>
            </a:r>
            <a:endParaRPr sz="1350" b="0">
              <a:solidFill>
                <a:srgbClr val="B8101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hlinkClick r:id="rId3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10287000" y="323088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hlinkClick r:id="rId4"/>
              </a:rPr>
              <a:t>Open original</a:t>
            </a:r>
            <a:endParaRPr sz="1350" b="0">
              <a:solidFill>
                <a:srgbClr val="B8101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hlinkClick r:id="rId4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10287000" y="362521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hlinkClick r:id="rId5"/>
              </a:rPr>
              <a:t>Open original</a:t>
            </a:r>
            <a:endParaRPr sz="1350" b="0">
              <a:solidFill>
                <a:srgbClr val="B8101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hlinkClick r:id="rId5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10287000" y="401955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hlinkClick r:id="rId6"/>
              </a:rPr>
              <a:t>Open original</a:t>
            </a:r>
            <a:endParaRPr sz="1350" b="0">
              <a:solidFill>
                <a:srgbClr val="B8101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hlinkClick r:id="rId6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10287000" y="441388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hlinkClick r:id="rId7"/>
              </a:rPr>
              <a:t>Open original</a:t>
            </a:r>
            <a:endParaRPr sz="1350" b="0">
              <a:solidFill>
                <a:srgbClr val="B8101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hlinkClick r:id="rId7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10287000" y="480822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hlinkClick r:id="rId8"/>
              </a:rPr>
              <a:t>Open original</a:t>
            </a:r>
            <a:endParaRPr sz="1350" b="0">
              <a:solidFill>
                <a:srgbClr val="B8101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hlinkClick r:id="rId8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10287000" y="520255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hlinkClick r:id="rId9"/>
              </a:rPr>
              <a:t>Open original</a:t>
            </a:r>
            <a:endParaRPr sz="1350" b="0">
              <a:solidFill>
                <a:srgbClr val="B8101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hlinkClick r:id="rId9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10287000" y="559689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  <a:lvl1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1pPr>
            <a:lvl2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2pPr>
            <a:lvl3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3pPr>
            <a:lvl4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4pPr>
            <a:lvl5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5pPr>
            <a:lvl6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6pPr>
            <a:lvl7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7pPr>
            <a:lvl8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8pPr>
            <a:lvl9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lvl9pPr>
          </a:lstStyle>
          <a:p>
            <a:pPr>
              <a:def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B8101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hlinkClick r:id="rId10"/>
              </a:rPr>
              <a:t>Open original</a:t>
            </a:r>
            <a:endParaRPr sz="1350" b="0">
              <a:solidFill>
                <a:srgbClr val="B8101E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hlinkClick r:id="rId1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8194</Words>
  <Application>WPS Presentation</Application>
  <PresentationFormat>Converted Presentation</PresentationFormat>
  <Paragraphs>711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SimSun</vt:lpstr>
      <vt:lpstr>Wingdings</vt:lpstr>
      <vt:lpstr>Helvetica Neue</vt:lpstr>
      <vt:lpstr>汉仪书宋二KW</vt:lpstr>
      <vt:lpstr>Microsoft YaHei</vt:lpstr>
      <vt:lpstr>汉仪旗黑</vt:lpstr>
      <vt:lpstr>Arial Unicode MS</vt:lpstr>
      <vt:lpstr>SimSun</vt:lpstr>
      <vt:lpstr>Aptos</vt:lpstr>
      <vt:lpstr>Helvetica Neue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Formerly</cp:lastModifiedBy>
  <cp:revision>3</cp:revision>
  <dcterms:created xsi:type="dcterms:W3CDTF">2026-10-31T14:56:13Z</dcterms:created>
  <dcterms:modified xsi:type="dcterms:W3CDTF">2026-10-31T14:56:13Z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1033-12.1.24031.24031</vt:lpwstr>
  </property>
  <property fmtid="{D5CDD505-2E9C-101B-9397-08002B2CF9AE}" pid="3" name="ICV">
    <vt:lpwstr>3669D84E473E1E694BE4E56AF18A462E_42</vt:lpwstr>
  </property>
</Properties>
</file>